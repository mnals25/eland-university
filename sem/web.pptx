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332" r:id="rId7"/>
    <p:sldId id="333" r:id="rId8"/>
    <p:sldId id="334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07" r:id="rId22"/>
    <p:sldId id="273" r:id="rId23"/>
    <p:sldId id="274" r:id="rId24"/>
    <p:sldId id="276" r:id="rId25"/>
    <p:sldId id="277" r:id="rId26"/>
    <p:sldId id="275" r:id="rId27"/>
    <p:sldId id="281" r:id="rId28"/>
    <p:sldId id="283" r:id="rId29"/>
    <p:sldId id="282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9" r:id="rId38"/>
    <p:sldId id="291" r:id="rId39"/>
    <p:sldId id="293" r:id="rId40"/>
    <p:sldId id="335" r:id="rId41"/>
    <p:sldId id="278" r:id="rId42"/>
    <p:sldId id="336" r:id="rId43"/>
    <p:sldId id="311" r:id="rId44"/>
    <p:sldId id="310" r:id="rId45"/>
    <p:sldId id="312" r:id="rId46"/>
    <p:sldId id="297" r:id="rId47"/>
    <p:sldId id="309" r:id="rId48"/>
    <p:sldId id="308" r:id="rId49"/>
    <p:sldId id="294" r:id="rId50"/>
    <p:sldId id="295" r:id="rId51"/>
    <p:sldId id="296" r:id="rId52"/>
    <p:sldId id="298" r:id="rId53"/>
    <p:sldId id="292" r:id="rId54"/>
    <p:sldId id="279" r:id="rId55"/>
    <p:sldId id="280" r:id="rId56"/>
    <p:sldId id="300" r:id="rId57"/>
    <p:sldId id="301" r:id="rId58"/>
    <p:sldId id="337" r:id="rId59"/>
    <p:sldId id="339" r:id="rId60"/>
    <p:sldId id="302" r:id="rId61"/>
    <p:sldId id="303" r:id="rId62"/>
    <p:sldId id="306" r:id="rId63"/>
    <p:sldId id="304" r:id="rId64"/>
    <p:sldId id="305" r:id="rId65"/>
    <p:sldId id="340" r:id="rId66"/>
    <p:sldId id="341" r:id="rId67"/>
    <p:sldId id="342" r:id="rId68"/>
    <p:sldId id="343" r:id="rId69"/>
    <p:sldId id="344" r:id="rId70"/>
    <p:sldId id="315" r:id="rId71"/>
    <p:sldId id="316" r:id="rId72"/>
    <p:sldId id="317" r:id="rId73"/>
    <p:sldId id="345" r:id="rId74"/>
    <p:sldId id="318" r:id="rId75"/>
    <p:sldId id="313" r:id="rId76"/>
    <p:sldId id="346" r:id="rId77"/>
    <p:sldId id="347" r:id="rId78"/>
    <p:sldId id="314" r:id="rId79"/>
    <p:sldId id="320" r:id="rId80"/>
    <p:sldId id="321" r:id="rId81"/>
    <p:sldId id="322" r:id="rId82"/>
    <p:sldId id="348" r:id="rId83"/>
    <p:sldId id="324" r:id="rId84"/>
    <p:sldId id="325" r:id="rId85"/>
    <p:sldId id="326" r:id="rId86"/>
    <p:sldId id="327" r:id="rId87"/>
    <p:sldId id="330" r:id="rId88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87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380"/>
    <p:restoredTop sz="92637" autoAdjust="0"/>
  </p:normalViewPr>
  <p:slideViewPr>
    <p:cSldViewPr snapToGrid="0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793ED61-46C0-449D-9EA1-ED36806C67C6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07BC71A-CB4F-47D7-8319-B531FF2A6E0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4184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The largest wide area network.</a:t>
            </a: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733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https://www.awwwards.com/websites/</a:t>
            </a:r>
            <a:br>
              <a:rPr lang="ar-SA" dirty="0"/>
            </a:br>
            <a:br>
              <a:rPr lang="ar-SA" dirty="0"/>
            </a:br>
            <a:r>
              <a:rPr lang="en-US" dirty="0"/>
              <a:t>https://pitch.com/</a:t>
            </a: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22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261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Servers are machine that hold all the resources.</a:t>
            </a:r>
          </a:p>
          <a:p>
            <a:pPr algn="l" rtl="0"/>
            <a:r>
              <a:rPr lang="en-US" dirty="0"/>
              <a:t>Always connected to the internet</a:t>
            </a:r>
            <a:br>
              <a:rPr lang="en-US" dirty="0"/>
            </a:b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26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662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عندما تقوم بحجز مكان في سيرفر ما عبر مضيف فإن هناك 3 خيارات</a:t>
            </a:r>
          </a:p>
          <a:p>
            <a:endParaRPr lang="ar-SA" dirty="0"/>
          </a:p>
          <a:p>
            <a:r>
              <a:rPr lang="ar-SA" dirty="0"/>
              <a:t>1- حجز السيرفر بالكامل (في حال الشركات الكبيرة)</a:t>
            </a:r>
          </a:p>
          <a:p>
            <a:r>
              <a:rPr lang="ar-SA" dirty="0"/>
              <a:t>2- حجز نصف او جزء كبير من السيرفر </a:t>
            </a:r>
          </a:p>
          <a:p>
            <a:r>
              <a:rPr lang="ar-SA" dirty="0"/>
              <a:t>3- حجز مساحة صغيرة لموقع محدود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28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9478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لكل موقع </a:t>
            </a:r>
            <a:r>
              <a:rPr lang="en-US" dirty="0"/>
              <a:t>domain name</a:t>
            </a:r>
            <a:r>
              <a:rPr lang="ar-SA" dirty="0"/>
              <a:t> خاص به (فريد)</a:t>
            </a:r>
          </a:p>
          <a:p>
            <a:r>
              <a:rPr lang="ar-SA" dirty="0"/>
              <a:t>سـ</a:t>
            </a:r>
            <a:r>
              <a:rPr lang="en-US" dirty="0"/>
              <a:t>/</a:t>
            </a:r>
            <a:r>
              <a:rPr lang="ar-SA" dirty="0"/>
              <a:t> كيف نحصل عليه ومتى نحتاجه ولما تختلف الامتدادات الخاصة به؟</a:t>
            </a:r>
          </a:p>
          <a:p>
            <a:r>
              <a:rPr lang="ar-SA" dirty="0"/>
              <a:t>جـ</a:t>
            </a:r>
            <a:r>
              <a:rPr lang="en-US" dirty="0"/>
              <a:t>/</a:t>
            </a:r>
            <a:r>
              <a:rPr lang="ar-SA" dirty="0"/>
              <a:t> ستحتاج إليها إذا ما فكرت برفع موقعك في استضافة ليكون ذلك هو عنوانك على السيرفر</a:t>
            </a:r>
          </a:p>
          <a:p>
            <a:r>
              <a:rPr lang="ar-SA" dirty="0"/>
              <a:t> ستحصل عليه اما بطريقة مجانية (بواسطة </a:t>
            </a:r>
            <a:r>
              <a:rPr lang="en-US" dirty="0" err="1"/>
              <a:t>Freenom</a:t>
            </a:r>
            <a:r>
              <a:rPr lang="en-US" dirty="0"/>
              <a:t>,</a:t>
            </a:r>
            <a:r>
              <a:rPr lang="ar-SA" dirty="0"/>
              <a:t>) او مدفوعة (بواسطة </a:t>
            </a:r>
            <a:r>
              <a:rPr lang="en-US" dirty="0"/>
              <a:t>ICANN</a:t>
            </a:r>
            <a:r>
              <a:rPr lang="ar-SA" dirty="0"/>
              <a:t> المؤسسة الدولية لتخصيص أسماء وأرقام الإنترنت) أو نطاق فرعي (</a:t>
            </a:r>
            <a:r>
              <a:rPr lang="en-US" dirty="0"/>
              <a:t>subdomain </a:t>
            </a:r>
            <a:r>
              <a:rPr lang="ar-SA" dirty="0"/>
              <a:t> مثل </a:t>
            </a:r>
            <a:r>
              <a:rPr lang="en-US" dirty="0" err="1"/>
              <a:t>githup</a:t>
            </a:r>
            <a:r>
              <a:rPr lang="ar-SA" dirty="0"/>
              <a:t>) ستحصل على الامتداد اذا كان مدفوع بحسب نشاطك أما اذا كان فرعي فبحسب الفرع الرئيسي </a:t>
            </a:r>
            <a:br>
              <a:rPr lang="ar-SA" dirty="0"/>
            </a:br>
            <a:r>
              <a:rPr lang="ar-SA" dirty="0"/>
              <a:t>اما اذا كان مجاني فإنه بحسب الدولة التي تقدم هذا النطاق</a:t>
            </a:r>
          </a:p>
          <a:p>
            <a:endParaRPr lang="ar-SA" dirty="0"/>
          </a:p>
          <a:p>
            <a:r>
              <a:rPr lang="ar-SA" dirty="0"/>
              <a:t>هذا الامتداد في الـ </a:t>
            </a:r>
            <a:r>
              <a:rPr lang="en-US" dirty="0"/>
              <a:t>URL</a:t>
            </a:r>
            <a:r>
              <a:rPr lang="ar-SA" dirty="0"/>
              <a:t> يسمى أيضاً نطاق المستوى الأعلى 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32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04327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Servers are machine that hold all the resources.</a:t>
            </a:r>
          </a:p>
          <a:p>
            <a:pPr algn="l" rtl="0"/>
            <a:r>
              <a:rPr lang="en-US" dirty="0"/>
              <a:t>Always connected to the internet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Clients are that you use for personal used</a:t>
            </a:r>
          </a:p>
          <a:p>
            <a:pPr algn="l" rtl="0"/>
            <a:r>
              <a:rPr lang="en-US" dirty="0"/>
              <a:t>EX: laptop , phone , pc</a:t>
            </a:r>
            <a:endParaRPr lang="ar-SA" dirty="0"/>
          </a:p>
          <a:p>
            <a:br>
              <a:rPr lang="en-US" dirty="0"/>
            </a:br>
            <a:r>
              <a:rPr lang="en-US" dirty="0"/>
              <a:t> </a:t>
            </a: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39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78625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http://info.cern.ch/</a:t>
            </a:r>
            <a:br>
              <a:rPr lang="en-US" dirty="0"/>
            </a:b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44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46575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- بالنسبة للبرتوكول ليس عليك كتابته لأنه سيتم اضافته تلقائيا </a:t>
            </a:r>
          </a:p>
          <a:p>
            <a:endParaRPr lang="ar-SA" dirty="0"/>
          </a:p>
          <a:p>
            <a:pPr marL="171450" indent="-171450">
              <a:buFontTx/>
              <a:buChar char="-"/>
            </a:pPr>
            <a:r>
              <a:rPr lang="ar-SA" dirty="0"/>
              <a:t>بالنسبة لاسم النطاق فانه يتكون من </a:t>
            </a:r>
            <a:r>
              <a:rPr lang="ar-SA" dirty="0" err="1"/>
              <a:t>جزئتين</a:t>
            </a:r>
            <a:r>
              <a:rPr lang="ar-SA" dirty="0"/>
              <a:t> اسم الموقع وامتداد النطاق اذا لم تكتبه بالجزئيتين ( اكتفيت باسم النطاق) فهنا سيقوم محرك البحث </a:t>
            </a:r>
            <a:r>
              <a:rPr lang="en-US" dirty="0"/>
              <a:t>SEO</a:t>
            </a:r>
            <a:r>
              <a:rPr lang="ar-SA" dirty="0"/>
              <a:t> بالمهمة</a:t>
            </a:r>
          </a:p>
          <a:p>
            <a:pPr marL="171450" indent="-171450">
              <a:buFontTx/>
              <a:buChar char="-"/>
            </a:pPr>
            <a:endParaRPr lang="ar-SA" dirty="0"/>
          </a:p>
          <a:p>
            <a:pPr marL="171450" indent="-171450">
              <a:buFontTx/>
              <a:buChar char="-"/>
            </a:pPr>
            <a:r>
              <a:rPr lang="ar-SA" dirty="0"/>
              <a:t>اما جزئية المستند فهي اختيارية ستضيفها في حال ارد الوصول الى صفحة معينة داخل الموقع وإذا لم تكتبه فإنك بشكل افتراضي ستذهب إلى الصفحة الرئيسية التي جرت العادة البرمجية بتسميتها </a:t>
            </a:r>
            <a:r>
              <a:rPr lang="en-US" dirty="0"/>
              <a:t>index.html</a:t>
            </a:r>
            <a:endParaRPr lang="ar-SA" dirty="0"/>
          </a:p>
          <a:p>
            <a:pPr marL="171450" indent="-171450">
              <a:buFontTx/>
              <a:buChar char="-"/>
            </a:pPr>
            <a:endParaRPr lang="ar-SA" dirty="0"/>
          </a:p>
          <a:p>
            <a:pPr marL="171450" indent="-171450">
              <a:buFontTx/>
              <a:buChar char="-"/>
            </a:pP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48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3639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51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8266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يجب أن تدرك أنه عندما تكتب </a:t>
            </a:r>
            <a:r>
              <a:rPr lang="en-US" dirty="0"/>
              <a:t>URL</a:t>
            </a:r>
            <a:r>
              <a:rPr lang="ar-SA" dirty="0"/>
              <a:t> واحد فإنك تطلب العديد والعديد من الـ </a:t>
            </a:r>
            <a:r>
              <a:rPr lang="en-US" dirty="0"/>
              <a:t>Files</a:t>
            </a:r>
          </a:p>
          <a:p>
            <a:endParaRPr lang="ar-SA" dirty="0"/>
          </a:p>
          <a:p>
            <a:r>
              <a:rPr lang="ar-SA" dirty="0"/>
              <a:t>هذا يفسر ضرورة عمل مجلد </a:t>
            </a:r>
            <a:r>
              <a:rPr lang="en-US" dirty="0"/>
              <a:t>Folder</a:t>
            </a:r>
            <a:r>
              <a:rPr lang="ar-SA" dirty="0"/>
              <a:t> لمشروع تصميم موقع ويب وليس فقط ملف واحد </a:t>
            </a:r>
            <a:r>
              <a:rPr lang="en-US" dirty="0"/>
              <a:t>file</a:t>
            </a:r>
            <a:r>
              <a:rPr lang="ar-SA" dirty="0"/>
              <a:t> </a:t>
            </a:r>
          </a:p>
          <a:p>
            <a:endParaRPr lang="ar-SA" dirty="0"/>
          </a:p>
          <a:p>
            <a:r>
              <a:rPr lang="ar-SA" dirty="0"/>
              <a:t>سـ</a:t>
            </a:r>
            <a:r>
              <a:rPr lang="en-US" dirty="0"/>
              <a:t>/</a:t>
            </a:r>
            <a:r>
              <a:rPr lang="ar-SA" dirty="0"/>
              <a:t> ماذا ان كان الملف محلي؟</a:t>
            </a:r>
          </a:p>
          <a:p>
            <a:r>
              <a:rPr lang="ar-SA" dirty="0"/>
              <a:t>جـ</a:t>
            </a:r>
            <a:r>
              <a:rPr lang="en-US" dirty="0"/>
              <a:t> /</a:t>
            </a:r>
            <a:r>
              <a:rPr lang="ar-SA" dirty="0"/>
              <a:t> في هذه الحالة فإن البرتوكول سيستخدم للوصول إلى الملفات المحلية على الجهاز وسيكون (</a:t>
            </a:r>
            <a:r>
              <a:rPr lang="en-US" dirty="0"/>
              <a:t>//:file</a:t>
            </a:r>
            <a:r>
              <a:rPr lang="ar-SA" dirty="0"/>
              <a:t>) </a:t>
            </a:r>
          </a:p>
          <a:p>
            <a:endParaRPr lang="ar-SA" dirty="0"/>
          </a:p>
          <a:p>
            <a:r>
              <a:rPr lang="ar-SA" dirty="0"/>
              <a:t>نصيحة: لا تستخدم المسافات في تسمية مجلداتك كي لا تظهر رموز غريبة في مسار الملف (</a:t>
            </a:r>
            <a:r>
              <a:rPr lang="en-US" dirty="0"/>
              <a:t>20%</a:t>
            </a:r>
            <a:r>
              <a:rPr lang="ar-SA" dirty="0"/>
              <a:t>)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53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20643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CSS Files: that will style your pages.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JS: that can add on </a:t>
            </a:r>
            <a:r>
              <a:rPr lang="en-US"/>
              <a:t>different interactions</a:t>
            </a:r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64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21532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70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1882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71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8057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ملاحظة:</a:t>
            </a:r>
          </a:p>
          <a:p>
            <a:pPr marL="171450" indent="-171450">
              <a:buFontTx/>
              <a:buChar char="-"/>
            </a:pPr>
            <a:r>
              <a:rPr lang="ar-SA" dirty="0"/>
              <a:t>إذا رأيت نقطة بيضاء بجانب اسم الملف في المحرر فهو تنبيه الى انك لم تحفظ الملف بعد قيامك بتعديل ما.</a:t>
            </a:r>
          </a:p>
          <a:p>
            <a:pPr marL="171450" indent="-171450">
              <a:buFontTx/>
              <a:buChar char="-"/>
            </a:pPr>
            <a:endParaRPr lang="ar-SA" dirty="0"/>
          </a:p>
          <a:p>
            <a:pPr marL="0" indent="0">
              <a:buFontTx/>
              <a:buNone/>
            </a:pPr>
            <a:r>
              <a:rPr lang="ar-SA" dirty="0"/>
              <a:t>هنا يخاطب الـ </a:t>
            </a:r>
            <a:r>
              <a:rPr lang="en-US" dirty="0"/>
              <a:t>Editor</a:t>
            </a:r>
            <a:r>
              <a:rPr lang="ar-SA" dirty="0"/>
              <a:t> الـ </a:t>
            </a:r>
            <a:r>
              <a:rPr lang="en-US" dirty="0"/>
              <a:t>Browser</a:t>
            </a:r>
            <a:r>
              <a:rPr lang="ar-SA" dirty="0"/>
              <a:t> قائلاً: إليك أنواعا معينة من الرموز (</a:t>
            </a:r>
            <a:r>
              <a:rPr lang="en-US" dirty="0"/>
              <a:t>tags</a:t>
            </a:r>
            <a:r>
              <a:rPr lang="ar-SA" dirty="0"/>
              <a:t>) لمعرفة الطريقة التي اريدك أن تعمل بها.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BC71A-CB4F-47D7-8319-B531FF2A6E04}" type="slidenum">
              <a:rPr lang="ar-SA" smtClean="0"/>
              <a:t>86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6899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F2DC4E-6909-4A44-B2ED-9185C8F3E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065DA573-6EC9-471C-80BF-9FF1586CF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5E5A614-AF7B-4B90-BA52-CBE2AE42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B88FCA5-A528-4604-AE40-9E63E3B7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B4A502B-9039-41B8-AB15-40A44181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4931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CE7357E-8528-48D3-BA50-C96451F9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45B7FC7-DEE7-47D1-97CE-BE3129E0B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B9645CA-6885-4F99-8FC4-ADEC6F74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57004E9-C29F-4991-874C-E1587C1E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CB49AF9-4B80-45AA-A89E-608CE303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2185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23CADC9-FF3A-464A-BD53-F9CF33D7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B99F6E8-3739-42FD-9F1B-02B8C63E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360FABD-ED7D-4860-BAD3-16D2FC4A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B2FE304-1703-4E23-A743-91BA848B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F8E7785-A26C-41CD-8CCF-ED76F0E6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7639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E2B19BB-E938-4E61-80DC-41E8FA1F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A2EEE96-AA0F-47F8-A63F-C303514CE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FB72728-E018-4581-B50A-110D65A6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14D5145-489C-49BB-B61C-0D8A6456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829E098-0C8A-47BC-8B21-7A1AA7DF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FDF3529-93F1-4707-A011-F6F75D00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904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048D2A2-4AF2-41A9-9757-3F2B63A3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9A1D9E1-F6DA-4FCA-970B-7D1FA7ECB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233396D7-0D75-4DFF-AFD3-BE3A2825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3DC9E4E-13F0-408E-A43F-B1033769C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660AB97C-BE27-4653-8EB9-00B747C1C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FC01393-0A7D-4E11-BAF0-BBF3F5CC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EE78DB6F-9EA3-4842-ACCB-2D4711AA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26E796F1-5F92-49D3-8039-D26AF1EA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5098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C64BDAB-4CA1-4CDA-B162-60D80564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5ED092CC-73E9-4E5D-B064-1E615DAC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7A6C4A9-91DA-411B-B601-3749A6BC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538DBE6C-129B-453A-8A8C-1727B4BB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1619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ED89EC6A-EEE4-406C-B600-DB1B50CC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1C9A7AFB-5990-449B-9AD8-83BF4B44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CE174B6-A51C-49EA-8C70-AD5400B5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4531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4900B98-E207-4E9C-BE8E-5BBEF856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B7F45F4-F14F-4560-9618-A0F48D170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9242B6A-79DD-4564-9D6C-50F682FED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7494C3C-9409-4AF3-A2E2-D954E39C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7994D53-ADB8-4FAB-A45E-40598D8A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5837576-180B-49AF-B51B-B9EAF664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8818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107CF4-2227-454A-B911-FABD3BF6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0094130-B548-4657-8E3D-4D1149432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87AA0CA-BD58-4A0C-8601-3253C52F7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F613A44-6116-4FF2-8E0C-BBE30370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BFE9213-F6E7-4401-88CE-905FD635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8A59008-23DC-4899-A388-BB36BBE3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2050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CF0E03D-636B-4301-BD9F-7B741938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17931F-B043-46A6-98B5-FDCD88E47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E93AFC7-FA72-472A-A2E5-3A7EFEC3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63FF5FD-2E6D-47F3-A875-2F5B769F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94CD91B-A4CB-4460-BAFE-62CD9D0F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0425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68063383-587C-49F0-B0EE-300DF79FD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DFBF538-C694-4C92-B0B5-568F4A910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17B3629-39BF-4F27-8A43-1FEA1907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11CFBB1-4D30-4BB5-9E06-D03784DA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1CB494A-0D06-4EF4-820D-54469BE1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6984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1E1D35D-F3B3-462B-9EF3-A888C192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D19328D-3D18-40DD-817F-F8B0D887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23AFDCF-387E-4AA7-AC64-CA5337939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C1FD5-01DB-4252-8063-34E49FAD0D0A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B12C837-8F67-479F-B79C-441448830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8A04E12-604E-4C33-BDE8-C31343C28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693C5-F585-4A48-B4CD-8FD0773CA6F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36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24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24.jp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C4430F94-9936-4049-8D82-877BDF60E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3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B8E326A-EC89-4030-819E-A5EE05FDB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8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230EB76-2537-4E43-9610-0EA412908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8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4C7107C5-DD87-42AB-AC34-B0170A6E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2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457FBE5-FB60-47F9-BD1F-E12E4D719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85F647DD-B0D4-4D4A-8D83-96D323C2D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929" y="2519357"/>
            <a:ext cx="3818551" cy="3872207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93BCFCBC-02AF-4C93-A99C-9C31D6D2E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617" y="2380188"/>
            <a:ext cx="3818551" cy="3872207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9F491B46-A574-4BA4-AD96-9124CF6A2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29" y="2241019"/>
            <a:ext cx="3818551" cy="3872207"/>
          </a:xfrm>
          <a:prstGeom prst="rect">
            <a:avLst/>
          </a:prstGeom>
        </p:spPr>
      </p:pic>
      <p:sp>
        <p:nvSpPr>
          <p:cNvPr id="14" name="مربع نص 13">
            <a:extLst>
              <a:ext uri="{FF2B5EF4-FFF2-40B4-BE49-F238E27FC236}">
                <a16:creationId xmlns:a16="http://schemas.microsoft.com/office/drawing/2014/main" id="{AB5017E8-0640-405C-A65F-ADF26008A4B9}"/>
              </a:ext>
            </a:extLst>
          </p:cNvPr>
          <p:cNvSpPr txBox="1"/>
          <p:nvPr/>
        </p:nvSpPr>
        <p:spPr>
          <a:xfrm>
            <a:off x="3799840" y="1300480"/>
            <a:ext cx="47244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dirty="0"/>
              <a:t>Mainframes</a:t>
            </a:r>
            <a:endParaRPr lang="ar-SA" sz="3200" b="1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CB6CD24-F1BB-4EDB-A97F-7D016FF881F6}"/>
              </a:ext>
            </a:extLst>
          </p:cNvPr>
          <p:cNvSpPr txBox="1"/>
          <p:nvPr/>
        </p:nvSpPr>
        <p:spPr>
          <a:xfrm>
            <a:off x="10129520" y="1188720"/>
            <a:ext cx="196602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1944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640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457FBE5-FB60-47F9-BD1F-E12E4D719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E030B0EA-2023-44C0-A9FE-F752A4C45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82" y="1804721"/>
            <a:ext cx="9734550" cy="5100904"/>
          </a:xfrm>
          <a:prstGeom prst="rect">
            <a:avLst/>
          </a:prstGeom>
        </p:spPr>
      </p:pic>
      <p:sp>
        <p:nvSpPr>
          <p:cNvPr id="14" name="مربع نص 13">
            <a:extLst>
              <a:ext uri="{FF2B5EF4-FFF2-40B4-BE49-F238E27FC236}">
                <a16:creationId xmlns:a16="http://schemas.microsoft.com/office/drawing/2014/main" id="{AB5017E8-0640-405C-A65F-ADF26008A4B9}"/>
              </a:ext>
            </a:extLst>
          </p:cNvPr>
          <p:cNvSpPr txBox="1"/>
          <p:nvPr/>
        </p:nvSpPr>
        <p:spPr>
          <a:xfrm>
            <a:off x="6520181" y="6088559"/>
            <a:ext cx="47244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Harvard Mark I</a:t>
            </a:r>
            <a:endParaRPr lang="ar-SA" sz="4400" b="1" dirty="0">
              <a:solidFill>
                <a:schemeClr val="bg1"/>
              </a:solidFill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CB6CD24-F1BB-4EDB-A97F-7D016FF881F6}"/>
              </a:ext>
            </a:extLst>
          </p:cNvPr>
          <p:cNvSpPr txBox="1"/>
          <p:nvPr/>
        </p:nvSpPr>
        <p:spPr>
          <a:xfrm flipH="1">
            <a:off x="8882381" y="1041395"/>
            <a:ext cx="330961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1944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D8509D27-E5FC-4B35-9A44-E99AC4B4BF45}"/>
              </a:ext>
            </a:extLst>
          </p:cNvPr>
          <p:cNvSpPr txBox="1"/>
          <p:nvPr/>
        </p:nvSpPr>
        <p:spPr>
          <a:xfrm>
            <a:off x="676275" y="1172321"/>
            <a:ext cx="47244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3200" b="1" dirty="0"/>
              <a:t>جامعة هارفارد - كامبريدج</a:t>
            </a:r>
          </a:p>
        </p:txBody>
      </p:sp>
    </p:spTree>
    <p:extLst>
      <p:ext uri="{BB962C8B-B14F-4D97-AF65-F5344CB8AC3E}">
        <p14:creationId xmlns:p14="http://schemas.microsoft.com/office/powerpoint/2010/main" val="218394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457FBE5-FB60-47F9-BD1F-E12E4D719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مربع نص 13">
            <a:extLst>
              <a:ext uri="{FF2B5EF4-FFF2-40B4-BE49-F238E27FC236}">
                <a16:creationId xmlns:a16="http://schemas.microsoft.com/office/drawing/2014/main" id="{AB5017E8-0640-405C-A65F-ADF26008A4B9}"/>
              </a:ext>
            </a:extLst>
          </p:cNvPr>
          <p:cNvSpPr txBox="1"/>
          <p:nvPr/>
        </p:nvSpPr>
        <p:spPr>
          <a:xfrm>
            <a:off x="7620000" y="3136612"/>
            <a:ext cx="47244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dirty="0"/>
              <a:t>Mainframes</a:t>
            </a:r>
            <a:endParaRPr lang="ar-SA" sz="3200" b="1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CB6CD24-F1BB-4EDB-A97F-7D016FF881F6}"/>
              </a:ext>
            </a:extLst>
          </p:cNvPr>
          <p:cNvSpPr txBox="1"/>
          <p:nvPr/>
        </p:nvSpPr>
        <p:spPr>
          <a:xfrm>
            <a:off x="10129520" y="1188720"/>
            <a:ext cx="196602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1960s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3FCC9072-3997-40EC-9BBB-24A1AED38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6447"/>
            <a:ext cx="7772400" cy="618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8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BE539773-C864-4B5F-BA82-C95582F3E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A47EDD9E-0A5D-4DD5-8274-483B410EA4BA}"/>
              </a:ext>
            </a:extLst>
          </p:cNvPr>
          <p:cNvSpPr/>
          <p:nvPr/>
        </p:nvSpPr>
        <p:spPr>
          <a:xfrm>
            <a:off x="0" y="819150"/>
            <a:ext cx="12192000" cy="6038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C846E862-34F7-463A-8B30-A1940A050D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17" b="7222"/>
          <a:stretch/>
        </p:blipFill>
        <p:spPr>
          <a:xfrm>
            <a:off x="0" y="2628899"/>
            <a:ext cx="121920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07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صورة 7">
            <a:extLst>
              <a:ext uri="{FF2B5EF4-FFF2-40B4-BE49-F238E27FC236}">
                <a16:creationId xmlns:a16="http://schemas.microsoft.com/office/drawing/2014/main" id="{FD78FDBB-BA9C-44AD-87C5-477AA4CBA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CCBC04A7-C349-4A2A-933C-A9145145A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0" y="2824480"/>
            <a:ext cx="3416769" cy="869850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137B2C2E-9931-4B4C-9EAA-202439D8D181}"/>
              </a:ext>
            </a:extLst>
          </p:cNvPr>
          <p:cNvSpPr txBox="1"/>
          <p:nvPr/>
        </p:nvSpPr>
        <p:spPr>
          <a:xfrm>
            <a:off x="10129520" y="1188720"/>
            <a:ext cx="19304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1969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54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BE539773-C864-4B5F-BA82-C95582F3E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9F50AFCC-5643-47F6-9B57-A02B32A94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5574"/>
            <a:ext cx="12192000" cy="11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1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B030FD8-699D-4D70-8443-01F2D1828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0B8FA31D-BCEA-498C-B7F8-FE900C46121D}"/>
              </a:ext>
            </a:extLst>
          </p:cNvPr>
          <p:cNvSpPr txBox="1"/>
          <p:nvPr/>
        </p:nvSpPr>
        <p:spPr>
          <a:xfrm>
            <a:off x="10129520" y="1188720"/>
            <a:ext cx="196602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1973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1F9A7B34-4FDD-42CB-8A0C-4853B1162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27" y="1940218"/>
            <a:ext cx="5260953" cy="225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BFE1F4D-568B-46BD-A966-B047FB7D6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A4A77897-09D3-469D-AD68-28EAB525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22D0B5E5-8291-4403-9710-BBB295F2962E}"/>
              </a:ext>
            </a:extLst>
          </p:cNvPr>
          <p:cNvSpPr txBox="1"/>
          <p:nvPr/>
        </p:nvSpPr>
        <p:spPr>
          <a:xfrm>
            <a:off x="10129520" y="1188720"/>
            <a:ext cx="19304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1983</a:t>
            </a:r>
            <a:endParaRPr lang="ar-SA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A82AB56B-06FE-42A4-9A65-73277502F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08" y="1503680"/>
            <a:ext cx="8316794" cy="5029200"/>
          </a:xfrm>
          <a:prstGeom prst="rect">
            <a:avLst/>
          </a:prstGeom>
        </p:spPr>
      </p:pic>
      <p:sp>
        <p:nvSpPr>
          <p:cNvPr id="5" name="مستطيل 4">
            <a:extLst>
              <a:ext uri="{FF2B5EF4-FFF2-40B4-BE49-F238E27FC236}">
                <a16:creationId xmlns:a16="http://schemas.microsoft.com/office/drawing/2014/main" id="{BF204D27-ADB7-4E41-A647-8BB90A430AD0}"/>
              </a:ext>
            </a:extLst>
          </p:cNvPr>
          <p:cNvSpPr/>
          <p:nvPr/>
        </p:nvSpPr>
        <p:spPr>
          <a:xfrm>
            <a:off x="6096000" y="5810491"/>
            <a:ext cx="1832658" cy="71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9207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436D032E-70D4-4B7E-AB3A-42451A293F27}"/>
              </a:ext>
            </a:extLst>
          </p:cNvPr>
          <p:cNvSpPr txBox="1"/>
          <p:nvPr/>
        </p:nvSpPr>
        <p:spPr>
          <a:xfrm>
            <a:off x="1991360" y="2125201"/>
            <a:ext cx="820928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2400" dirty="0">
                <a:effectLst/>
                <a:latin typeface="TheSans" panose="020B0503040302020203" pitchFamily="34" charset="-78"/>
                <a:cs typeface="TheSans" panose="020B0503040302020203" pitchFamily="34" charset="-78"/>
              </a:rPr>
              <a:t>طوال كل تلك الفترة كانت الشبكات والانترنت كذلك مخصصا فقط للأغراض العسكرية والأبحاث العلمية </a:t>
            </a:r>
            <a:br>
              <a:rPr lang="ar-SA" sz="2400" dirty="0">
                <a:effectLst/>
                <a:latin typeface="TheSans" panose="020B0503040302020203" pitchFamily="34" charset="-78"/>
                <a:cs typeface="TheSans" panose="020B0503040302020203" pitchFamily="34" charset="-78"/>
              </a:rPr>
            </a:br>
            <a:r>
              <a:rPr lang="ar-SA" sz="2400" dirty="0">
                <a:effectLst/>
                <a:latin typeface="TheSans" panose="020B0503040302020203" pitchFamily="34" charset="-78"/>
                <a:cs typeface="TheSans" panose="020B0503040302020203" pitchFamily="34" charset="-78"/>
              </a:rPr>
              <a:t>رغب عامة الناس أن يستخدموا أيضا الانترنت وهنا يأتي مكان الـ </a:t>
            </a:r>
            <a:br>
              <a:rPr lang="ar-SA" sz="2400" dirty="0">
                <a:effectLst/>
                <a:latin typeface="TheSans" panose="020B0503040302020203" pitchFamily="34" charset="-78"/>
                <a:cs typeface="TheSans" panose="020B0503040302020203" pitchFamily="34" charset="-78"/>
              </a:rPr>
            </a:br>
            <a:endParaRPr lang="ar-SA" sz="2400" b="1" dirty="0">
              <a:solidFill>
                <a:srgbClr val="3C687C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0E63969D-4C19-4C12-A168-30A37E81F383}"/>
              </a:ext>
            </a:extLst>
          </p:cNvPr>
          <p:cNvSpPr txBox="1"/>
          <p:nvPr/>
        </p:nvSpPr>
        <p:spPr>
          <a:xfrm>
            <a:off x="3312160" y="4494014"/>
            <a:ext cx="6197600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0" b="1" dirty="0">
                <a:solidFill>
                  <a:srgbClr val="3C687C"/>
                </a:solidFill>
                <a:effectLst/>
                <a:latin typeface="TheSans" panose="020B0503040302020203" pitchFamily="34" charset="-78"/>
                <a:cs typeface="TheSans" panose="020B0503040302020203" pitchFamily="34" charset="-78"/>
              </a:rPr>
              <a:t>Web</a:t>
            </a:r>
            <a:endParaRPr lang="ar-SA" sz="10000" dirty="0"/>
          </a:p>
        </p:txBody>
      </p:sp>
    </p:spTree>
    <p:extLst>
      <p:ext uri="{BB962C8B-B14F-4D97-AF65-F5344CB8AC3E}">
        <p14:creationId xmlns:p14="http://schemas.microsoft.com/office/powerpoint/2010/main" val="404503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صورة 11">
            <a:extLst>
              <a:ext uri="{FF2B5EF4-FFF2-40B4-BE49-F238E27FC236}">
                <a16:creationId xmlns:a16="http://schemas.microsoft.com/office/drawing/2014/main" id="{27DC91D2-224A-4CFD-A2F0-03BE1D477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5798E72-30BD-4107-B835-99499C25B7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05" y="1753843"/>
            <a:ext cx="4209595" cy="4468925"/>
          </a:xfrm>
          <a:prstGeom prst="rect">
            <a:avLst/>
          </a:prstGeom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1C709F31-D541-4930-B03B-E21F9034B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19" y="1187478"/>
            <a:ext cx="1301581" cy="179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7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2F62BB2-BE3B-46BD-BD2A-3BC256AF4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32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03830948-1943-4DF3-AAAB-ED642AD1A61D}"/>
              </a:ext>
            </a:extLst>
          </p:cNvPr>
          <p:cNvSpPr txBox="1"/>
          <p:nvPr/>
        </p:nvSpPr>
        <p:spPr>
          <a:xfrm>
            <a:off x="3733800" y="3013501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The Problem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179969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>
            <a:extLst>
              <a:ext uri="{FF2B5EF4-FFF2-40B4-BE49-F238E27FC236}">
                <a16:creationId xmlns:a16="http://schemas.microsoft.com/office/drawing/2014/main" id="{CFF09CEE-328B-4AE4-9D91-A3DC50ED6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B8EE0A35-17B3-42FA-9881-1964CDB9C348}"/>
              </a:ext>
            </a:extLst>
          </p:cNvPr>
          <p:cNvSpPr txBox="1"/>
          <p:nvPr/>
        </p:nvSpPr>
        <p:spPr>
          <a:xfrm>
            <a:off x="9560560" y="3815695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تركيا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C749D02E-A43D-454A-8F71-129F75C27E31}"/>
              </a:ext>
            </a:extLst>
          </p:cNvPr>
          <p:cNvSpPr txBox="1"/>
          <p:nvPr/>
        </p:nvSpPr>
        <p:spPr>
          <a:xfrm>
            <a:off x="6847840" y="3896975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الصين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DD699674-DD8A-4F0D-B5C0-0BB3CCA9E7E8}"/>
              </a:ext>
            </a:extLst>
          </p:cNvPr>
          <p:cNvSpPr txBox="1"/>
          <p:nvPr/>
        </p:nvSpPr>
        <p:spPr>
          <a:xfrm>
            <a:off x="4048760" y="3815694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هولندا</a:t>
            </a: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9D388043-B9AB-4B22-9D6C-DB6CBAB3D347}"/>
              </a:ext>
            </a:extLst>
          </p:cNvPr>
          <p:cNvSpPr txBox="1"/>
          <p:nvPr/>
        </p:nvSpPr>
        <p:spPr>
          <a:xfrm>
            <a:off x="1336040" y="3815694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كندا</a:t>
            </a:r>
          </a:p>
        </p:txBody>
      </p:sp>
    </p:spTree>
    <p:extLst>
      <p:ext uri="{BB962C8B-B14F-4D97-AF65-F5344CB8AC3E}">
        <p14:creationId xmlns:p14="http://schemas.microsoft.com/office/powerpoint/2010/main" val="1184585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81229357-C461-4FB2-9DFB-CE84746E6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D25289CB-E4C7-4E3C-8D98-A70B0D44E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272" y="1155900"/>
            <a:ext cx="6279456" cy="1808483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C6F16F3E-2878-476A-9F73-89B5AE9F9336}"/>
              </a:ext>
            </a:extLst>
          </p:cNvPr>
          <p:cNvSpPr txBox="1"/>
          <p:nvPr/>
        </p:nvSpPr>
        <p:spPr>
          <a:xfrm>
            <a:off x="9550400" y="4425295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تركيا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DEA9B0E3-7027-49FF-BA71-A8246389F50F}"/>
              </a:ext>
            </a:extLst>
          </p:cNvPr>
          <p:cNvSpPr txBox="1"/>
          <p:nvPr/>
        </p:nvSpPr>
        <p:spPr>
          <a:xfrm>
            <a:off x="6837680" y="4506575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الصين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351D4924-370E-4BEB-89B0-552160BDDF03}"/>
              </a:ext>
            </a:extLst>
          </p:cNvPr>
          <p:cNvSpPr txBox="1"/>
          <p:nvPr/>
        </p:nvSpPr>
        <p:spPr>
          <a:xfrm>
            <a:off x="4038600" y="4425294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هولندا</a:t>
            </a: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0EF15057-C63A-4ACB-ADBF-8D54A83E5B94}"/>
              </a:ext>
            </a:extLst>
          </p:cNvPr>
          <p:cNvSpPr txBox="1"/>
          <p:nvPr/>
        </p:nvSpPr>
        <p:spPr>
          <a:xfrm>
            <a:off x="1325880" y="4425294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كندا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78427B68-53F2-4788-AB91-0959B2571EC0}"/>
              </a:ext>
            </a:extLst>
          </p:cNvPr>
          <p:cNvSpPr txBox="1"/>
          <p:nvPr/>
        </p:nvSpPr>
        <p:spPr>
          <a:xfrm>
            <a:off x="2578100" y="6167541"/>
            <a:ext cx="70358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/>
              <a:t>WWW = </a:t>
            </a:r>
            <a:r>
              <a:rPr lang="en-US" sz="2800" b="1" dirty="0">
                <a:solidFill>
                  <a:schemeClr val="accent2"/>
                </a:solidFill>
              </a:rPr>
              <a:t>World wide</a:t>
            </a:r>
            <a:r>
              <a:rPr lang="en-US" sz="2800" b="1" dirty="0"/>
              <a:t> web</a:t>
            </a:r>
            <a:endParaRPr lang="ar-SA" sz="2800" b="1" dirty="0"/>
          </a:p>
        </p:txBody>
      </p:sp>
    </p:spTree>
    <p:extLst>
      <p:ext uri="{BB962C8B-B14F-4D97-AF65-F5344CB8AC3E}">
        <p14:creationId xmlns:p14="http://schemas.microsoft.com/office/powerpoint/2010/main" val="367323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3ED1A02-97DD-4C8B-AA9B-898FF3949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1C2EDA8C-9A43-4549-A536-AD6957CA8F31}"/>
              </a:ext>
            </a:extLst>
          </p:cNvPr>
          <p:cNvSpPr txBox="1"/>
          <p:nvPr/>
        </p:nvSpPr>
        <p:spPr>
          <a:xfrm>
            <a:off x="1524000" y="2698095"/>
            <a:ext cx="144272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>
                <a:solidFill>
                  <a:schemeClr val="accent6">
                    <a:lumMod val="7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تركيا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08D413F9-87CD-4387-A3EC-FE736BFD75B7}"/>
              </a:ext>
            </a:extLst>
          </p:cNvPr>
          <p:cNvSpPr txBox="1"/>
          <p:nvPr/>
        </p:nvSpPr>
        <p:spPr>
          <a:xfrm>
            <a:off x="106680" y="4852461"/>
            <a:ext cx="4724400" cy="12618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latin typeface="TheSans" panose="020B0503040302020203" pitchFamily="34" charset="-78"/>
                <a:cs typeface="TheSans" panose="020B0503040302020203" pitchFamily="34" charset="-78"/>
              </a:rPr>
              <a:t>Web</a:t>
            </a:r>
            <a:endParaRPr lang="en-US" sz="2800" b="1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ctr"/>
            <a:r>
              <a:rPr lang="ar-SA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الشبكة العنكبوتية</a:t>
            </a:r>
          </a:p>
        </p:txBody>
      </p:sp>
    </p:spTree>
    <p:extLst>
      <p:ext uri="{BB962C8B-B14F-4D97-AF65-F5344CB8AC3E}">
        <p14:creationId xmlns:p14="http://schemas.microsoft.com/office/powerpoint/2010/main" val="222162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48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>
            <a:extLst>
              <a:ext uri="{FF2B5EF4-FFF2-40B4-BE49-F238E27FC236}">
                <a16:creationId xmlns:a16="http://schemas.microsoft.com/office/drawing/2014/main" id="{6434BE11-3585-4F31-AEF1-13CF935C9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9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2652189"/>
            <a:ext cx="687113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Example</a:t>
            </a:r>
            <a:endParaRPr lang="ar-SA" sz="4800" b="1" dirty="0">
              <a:effectLst/>
            </a:endParaRPr>
          </a:p>
          <a:p>
            <a:pPr algn="ctr"/>
            <a:r>
              <a:rPr lang="en-US" sz="4800" b="1" dirty="0"/>
              <a:t>Library	</a:t>
            </a:r>
            <a:endParaRPr lang="ar-SA" sz="4800" b="1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04E255E-D4BA-41DE-9A7F-542B0E919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30" y="1270000"/>
            <a:ext cx="7634559" cy="511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63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806700" y="3135421"/>
            <a:ext cx="65786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pages </a:t>
            </a:r>
            <a:r>
              <a:rPr lang="en-US" sz="4800" b="1" dirty="0">
                <a:sym typeface="Wingdings" panose="05000000000000000000" pitchFamily="2" charset="2"/>
              </a:rPr>
              <a:t> Website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4119934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C37F45C6-659D-43C6-88B3-534A90724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BA2B815B-E5D4-4ED4-8404-3FA87BD67D34}"/>
              </a:ext>
            </a:extLst>
          </p:cNvPr>
          <p:cNvGrpSpPr/>
          <p:nvPr/>
        </p:nvGrpSpPr>
        <p:grpSpPr>
          <a:xfrm>
            <a:off x="835660" y="2475021"/>
            <a:ext cx="3289300" cy="3046988"/>
            <a:chOff x="835660" y="2475021"/>
            <a:chExt cx="3289300" cy="3046988"/>
          </a:xfrm>
        </p:grpSpPr>
        <p:sp>
          <p:nvSpPr>
            <p:cNvPr id="8" name="مربع نص 7">
              <a:extLst>
                <a:ext uri="{FF2B5EF4-FFF2-40B4-BE49-F238E27FC236}">
                  <a16:creationId xmlns:a16="http://schemas.microsoft.com/office/drawing/2014/main" id="{31B65A34-16C2-484C-A157-DCAC7A9820C5}"/>
                </a:ext>
              </a:extLst>
            </p:cNvPr>
            <p:cNvSpPr txBox="1"/>
            <p:nvPr/>
          </p:nvSpPr>
          <p:spPr>
            <a:xfrm>
              <a:off x="835660" y="2475021"/>
              <a:ext cx="3289300" cy="304698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4800" b="1" dirty="0"/>
                <a:t>Web pages</a:t>
              </a:r>
            </a:p>
            <a:p>
              <a:pPr algn="ctr"/>
              <a:endParaRPr lang="en-US" sz="4800" b="1" dirty="0"/>
            </a:p>
            <a:p>
              <a:pPr algn="ctr"/>
              <a:r>
                <a:rPr lang="en-US" sz="4800" b="1" dirty="0"/>
                <a:t> </a:t>
              </a:r>
            </a:p>
            <a:p>
              <a:pPr algn="ctr"/>
              <a:r>
                <a:rPr lang="en-US" sz="4800" b="1" dirty="0">
                  <a:sym typeface="Wingdings" panose="05000000000000000000" pitchFamily="2" charset="2"/>
                </a:rPr>
                <a:t>Website</a:t>
              </a:r>
              <a:endParaRPr lang="ar-SA" sz="4800" b="1" dirty="0"/>
            </a:p>
          </p:txBody>
        </p:sp>
        <p:sp>
          <p:nvSpPr>
            <p:cNvPr id="9" name="سهم: لأسفل 8">
              <a:extLst>
                <a:ext uri="{FF2B5EF4-FFF2-40B4-BE49-F238E27FC236}">
                  <a16:creationId xmlns:a16="http://schemas.microsoft.com/office/drawing/2014/main" id="{79970DA0-C3F3-4BCF-A042-75BA797AB4E6}"/>
                </a:ext>
              </a:extLst>
            </p:cNvPr>
            <p:cNvSpPr/>
            <p:nvPr/>
          </p:nvSpPr>
          <p:spPr>
            <a:xfrm>
              <a:off x="2072640" y="3693160"/>
              <a:ext cx="741680" cy="76708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</p:spTree>
    <p:extLst>
      <p:ext uri="{BB962C8B-B14F-4D97-AF65-F5344CB8AC3E}">
        <p14:creationId xmlns:p14="http://schemas.microsoft.com/office/powerpoint/2010/main" val="165228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4B669E1-71E6-4316-B42A-090E8A4F8F83}"/>
              </a:ext>
            </a:extLst>
          </p:cNvPr>
          <p:cNvSpPr txBox="1"/>
          <p:nvPr/>
        </p:nvSpPr>
        <p:spPr>
          <a:xfrm>
            <a:off x="1991360" y="2125201"/>
            <a:ext cx="820928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سـ</a:t>
            </a:r>
            <a:r>
              <a:rPr lang="en-US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/</a:t>
            </a:r>
            <a:r>
              <a:rPr lang="ar-SA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 كيف يتم انشاء صفحات الويب؟</a:t>
            </a: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جـ</a:t>
            </a:r>
            <a:r>
              <a:rPr lang="en-US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/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بما أن صفحات الويب ستعمل على أجهزة مختلفة وأنظمة مختلفة كان لابد من توحيد لغة لتكتب بها هذه المستندات </a:t>
            </a: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وهي تلك </a:t>
            </a:r>
            <a:r>
              <a:rPr lang="ar-SA" sz="2400" b="1" dirty="0" err="1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المسماه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بلغات الويب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Web language</a:t>
            </a:r>
            <a:endParaRPr lang="ar-SA" sz="40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52406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377" y="2774723"/>
            <a:ext cx="2788339" cy="2673175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15DD4F19-4785-4B68-A66B-EB4661DC6C4C}"/>
              </a:ext>
            </a:extLst>
          </p:cNvPr>
          <p:cNvSpPr txBox="1"/>
          <p:nvPr/>
        </p:nvSpPr>
        <p:spPr>
          <a:xfrm>
            <a:off x="6960536" y="4801567"/>
            <a:ext cx="186436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/>
              <a:t>website</a:t>
            </a:r>
            <a:endParaRPr lang="ar-SA" sz="3600" b="1" dirty="0"/>
          </a:p>
        </p:txBody>
      </p:sp>
    </p:spTree>
    <p:extLst>
      <p:ext uri="{BB962C8B-B14F-4D97-AF65-F5344CB8AC3E}">
        <p14:creationId xmlns:p14="http://schemas.microsoft.com/office/powerpoint/2010/main" val="4293954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138630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server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4008626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</p:spTree>
    <p:extLst>
      <p:ext uri="{BB962C8B-B14F-4D97-AF65-F5344CB8AC3E}">
        <p14:creationId xmlns:p14="http://schemas.microsoft.com/office/powerpoint/2010/main" val="734018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138630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Hosts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369134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E80DF478-AF66-4077-95AA-68FBDE8D67AD}"/>
              </a:ext>
            </a:extLst>
          </p:cNvPr>
          <p:cNvGrpSpPr/>
          <p:nvPr/>
        </p:nvGrpSpPr>
        <p:grpSpPr>
          <a:xfrm>
            <a:off x="8034900" y="3228945"/>
            <a:ext cx="750244" cy="1659630"/>
            <a:chOff x="7591683" y="3227200"/>
            <a:chExt cx="750244" cy="1659630"/>
          </a:xfrm>
        </p:grpSpPr>
        <p:pic>
          <p:nvPicPr>
            <p:cNvPr id="10" name="صورة 9">
              <a:extLst>
                <a:ext uri="{FF2B5EF4-FFF2-40B4-BE49-F238E27FC236}">
                  <a16:creationId xmlns:a16="http://schemas.microsoft.com/office/drawing/2014/main" id="{7B9A6500-4184-4951-894F-BDB4570B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1683" y="3227200"/>
              <a:ext cx="750244" cy="1659630"/>
            </a:xfrm>
            <a:prstGeom prst="rect">
              <a:avLst/>
            </a:prstGeom>
          </p:spPr>
        </p:pic>
        <p:pic>
          <p:nvPicPr>
            <p:cNvPr id="11" name="صورة 10">
              <a:extLst>
                <a:ext uri="{FF2B5EF4-FFF2-40B4-BE49-F238E27FC236}">
                  <a16:creationId xmlns:a16="http://schemas.microsoft.com/office/drawing/2014/main" id="{5C0B1226-60A4-4F3A-85AB-B310C36E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2081" y="4212526"/>
              <a:ext cx="364921" cy="349849"/>
            </a:xfrm>
            <a:prstGeom prst="rect">
              <a:avLst/>
            </a:prstGeom>
          </p:spPr>
        </p:pic>
      </p:grp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31EB2D7-7E5D-4F1D-8DAD-2FA705543FF8}"/>
              </a:ext>
            </a:extLst>
          </p:cNvPr>
          <p:cNvSpPr txBox="1"/>
          <p:nvPr/>
        </p:nvSpPr>
        <p:spPr>
          <a:xfrm>
            <a:off x="5314170" y="4933297"/>
            <a:ext cx="126148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hosts</a:t>
            </a:r>
            <a:endParaRPr lang="ar-SA" sz="2000" b="1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7EDD36DA-DBF8-41D8-8214-39E34DDD33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74" y="4888575"/>
            <a:ext cx="713672" cy="71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54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138630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Address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1003777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7B9A6500-4184-4951-894F-BDB4570B1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500" y="2884472"/>
            <a:ext cx="492313" cy="1089055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5C0B1226-60A4-4F3A-85AB-B310C36EC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002" y="3531046"/>
            <a:ext cx="239463" cy="229572"/>
          </a:xfrm>
          <a:prstGeom prst="rect">
            <a:avLst/>
          </a:prstGeom>
        </p:spPr>
      </p:pic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31EB2D7-7E5D-4F1D-8DAD-2FA705543FF8}"/>
              </a:ext>
            </a:extLst>
          </p:cNvPr>
          <p:cNvSpPr txBox="1"/>
          <p:nvPr/>
        </p:nvSpPr>
        <p:spPr>
          <a:xfrm>
            <a:off x="5314170" y="4933297"/>
            <a:ext cx="126148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hosts</a:t>
            </a:r>
            <a:endParaRPr lang="ar-SA" sz="2000" b="1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7EDD36DA-DBF8-41D8-8214-39E34DDD33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74" y="4888575"/>
            <a:ext cx="713672" cy="712702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131F31C4-2BA0-47DE-99FA-6DFEC918DD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72" y="3067691"/>
            <a:ext cx="708704" cy="1589105"/>
          </a:xfrm>
          <a:prstGeom prst="rect">
            <a:avLst/>
          </a:prstGeom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362159D0-4246-4C8D-9393-F41D65CA1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792" y="4146753"/>
            <a:ext cx="239463" cy="229572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64DE43D0-594A-4622-BE38-A95873F4F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19" y="3645832"/>
            <a:ext cx="239463" cy="229572"/>
          </a:xfrm>
          <a:prstGeom prst="rect">
            <a:avLst/>
          </a:prstGeom>
        </p:spPr>
      </p:pic>
      <p:sp>
        <p:nvSpPr>
          <p:cNvPr id="16" name="مربع نص 15">
            <a:extLst>
              <a:ext uri="{FF2B5EF4-FFF2-40B4-BE49-F238E27FC236}">
                <a16:creationId xmlns:a16="http://schemas.microsoft.com/office/drawing/2014/main" id="{3BEB6857-0EB8-40E2-AF58-F55EFFDC1326}"/>
              </a:ext>
            </a:extLst>
          </p:cNvPr>
          <p:cNvSpPr txBox="1"/>
          <p:nvPr/>
        </p:nvSpPr>
        <p:spPr>
          <a:xfrm>
            <a:off x="6744091" y="3273105"/>
            <a:ext cx="1677785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b="1" dirty="0"/>
              <a:t>Web Address</a:t>
            </a:r>
            <a:endParaRPr lang="ar-SA" sz="1000" b="1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AC2AD08A-4C40-4AB2-B75E-688795FB9E73}"/>
              </a:ext>
            </a:extLst>
          </p:cNvPr>
          <p:cNvSpPr txBox="1"/>
          <p:nvPr/>
        </p:nvSpPr>
        <p:spPr>
          <a:xfrm>
            <a:off x="8552064" y="2992315"/>
            <a:ext cx="1677785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" b="1" dirty="0"/>
              <a:t>Web Address</a:t>
            </a:r>
            <a:endParaRPr lang="ar-SA" sz="800" b="1" dirty="0"/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24D40B49-4177-4944-9C1C-15ED303CA6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63803">
            <a:off x="7017059" y="3281874"/>
            <a:ext cx="263872" cy="255985"/>
          </a:xfrm>
          <a:prstGeom prst="rect">
            <a:avLst/>
          </a:prstGeom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D627460A-720D-40AF-B133-487D179080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63803">
            <a:off x="8989662" y="3023752"/>
            <a:ext cx="187634" cy="18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55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1498600" y="3147097"/>
            <a:ext cx="905933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Address == Domain name</a:t>
            </a:r>
            <a:endParaRPr lang="ar-SA" sz="4800" b="1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385D5BA3-4490-40C8-8901-75AD075A6F65}"/>
              </a:ext>
            </a:extLst>
          </p:cNvPr>
          <p:cNvSpPr txBox="1"/>
          <p:nvPr/>
        </p:nvSpPr>
        <p:spPr>
          <a:xfrm>
            <a:off x="1498600" y="3995009"/>
            <a:ext cx="905933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accent2"/>
                </a:solidFill>
              </a:rPr>
              <a:t>EX: www.google.com</a:t>
            </a:r>
            <a:endParaRPr lang="ar-SA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138630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browser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2397491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731EB2D7-7E5D-4F1D-8DAD-2FA705543FF8}"/>
              </a:ext>
            </a:extLst>
          </p:cNvPr>
          <p:cNvSpPr txBox="1"/>
          <p:nvPr/>
        </p:nvSpPr>
        <p:spPr>
          <a:xfrm>
            <a:off x="5314170" y="4933297"/>
            <a:ext cx="126148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hosts</a:t>
            </a:r>
            <a:endParaRPr lang="ar-SA" sz="2000" b="1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7EDD36DA-DBF8-41D8-8214-39E34DDD3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74" y="4888575"/>
            <a:ext cx="713672" cy="712702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64DE43D0-594A-4622-BE38-A95873F4F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19" y="3645832"/>
            <a:ext cx="239463" cy="229572"/>
          </a:xfrm>
          <a:prstGeom prst="rect">
            <a:avLst/>
          </a:prstGeom>
        </p:spPr>
      </p:pic>
      <p:grpSp>
        <p:nvGrpSpPr>
          <p:cNvPr id="21" name="مجموعة 20">
            <a:extLst>
              <a:ext uri="{FF2B5EF4-FFF2-40B4-BE49-F238E27FC236}">
                <a16:creationId xmlns:a16="http://schemas.microsoft.com/office/drawing/2014/main" id="{EDA98920-7A3C-440D-BE58-723037EE4765}"/>
              </a:ext>
            </a:extLst>
          </p:cNvPr>
          <p:cNvGrpSpPr/>
          <p:nvPr/>
        </p:nvGrpSpPr>
        <p:grpSpPr>
          <a:xfrm>
            <a:off x="8659698" y="1350637"/>
            <a:ext cx="2897302" cy="1473125"/>
            <a:chOff x="6744091" y="2884472"/>
            <a:chExt cx="3485758" cy="1772324"/>
          </a:xfrm>
        </p:grpSpPr>
        <p:pic>
          <p:nvPicPr>
            <p:cNvPr id="10" name="صورة 9">
              <a:extLst>
                <a:ext uri="{FF2B5EF4-FFF2-40B4-BE49-F238E27FC236}">
                  <a16:creationId xmlns:a16="http://schemas.microsoft.com/office/drawing/2014/main" id="{7B9A6500-4184-4951-894F-BDB4570B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500" y="2884472"/>
              <a:ext cx="492313" cy="1089055"/>
            </a:xfrm>
            <a:prstGeom prst="rect">
              <a:avLst/>
            </a:prstGeom>
          </p:spPr>
        </p:pic>
        <p:pic>
          <p:nvPicPr>
            <p:cNvPr id="11" name="صورة 10">
              <a:extLst>
                <a:ext uri="{FF2B5EF4-FFF2-40B4-BE49-F238E27FC236}">
                  <a16:creationId xmlns:a16="http://schemas.microsoft.com/office/drawing/2014/main" id="{5C0B1226-60A4-4F3A-85AB-B310C36E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6002" y="3531046"/>
              <a:ext cx="239463" cy="229572"/>
            </a:xfrm>
            <a:prstGeom prst="rect">
              <a:avLst/>
            </a:prstGeom>
          </p:spPr>
        </p:pic>
        <p:pic>
          <p:nvPicPr>
            <p:cNvPr id="13" name="صورة 12">
              <a:extLst>
                <a:ext uri="{FF2B5EF4-FFF2-40B4-BE49-F238E27FC236}">
                  <a16:creationId xmlns:a16="http://schemas.microsoft.com/office/drawing/2014/main" id="{131F31C4-2BA0-47DE-99FA-6DFEC918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172" y="3067691"/>
              <a:ext cx="708704" cy="1589105"/>
            </a:xfrm>
            <a:prstGeom prst="rect">
              <a:avLst/>
            </a:prstGeom>
          </p:spPr>
        </p:pic>
        <p:pic>
          <p:nvPicPr>
            <p:cNvPr id="14" name="صورة 13">
              <a:extLst>
                <a:ext uri="{FF2B5EF4-FFF2-40B4-BE49-F238E27FC236}">
                  <a16:creationId xmlns:a16="http://schemas.microsoft.com/office/drawing/2014/main" id="{362159D0-4246-4C8D-9393-F41D65CA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7792" y="4146753"/>
              <a:ext cx="239463" cy="229572"/>
            </a:xfrm>
            <a:prstGeom prst="rect">
              <a:avLst/>
            </a:prstGeom>
          </p:spPr>
        </p:pic>
        <p:sp>
          <p:nvSpPr>
            <p:cNvPr id="16" name="مربع نص 15">
              <a:extLst>
                <a:ext uri="{FF2B5EF4-FFF2-40B4-BE49-F238E27FC236}">
                  <a16:creationId xmlns:a16="http://schemas.microsoft.com/office/drawing/2014/main" id="{3BEB6857-0EB8-40E2-AF58-F55EFFDC1326}"/>
                </a:ext>
              </a:extLst>
            </p:cNvPr>
            <p:cNvSpPr txBox="1"/>
            <p:nvPr/>
          </p:nvSpPr>
          <p:spPr>
            <a:xfrm>
              <a:off x="6744091" y="3273105"/>
              <a:ext cx="1677785" cy="24622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00" b="1" dirty="0"/>
                <a:t>Web Address</a:t>
              </a:r>
              <a:endParaRPr lang="ar-SA" sz="1000" b="1" dirty="0"/>
            </a:p>
          </p:txBody>
        </p:sp>
        <p:sp>
          <p:nvSpPr>
            <p:cNvPr id="17" name="مربع نص 16">
              <a:extLst>
                <a:ext uri="{FF2B5EF4-FFF2-40B4-BE49-F238E27FC236}">
                  <a16:creationId xmlns:a16="http://schemas.microsoft.com/office/drawing/2014/main" id="{AC2AD08A-4C40-4AB2-B75E-688795FB9E73}"/>
                </a:ext>
              </a:extLst>
            </p:cNvPr>
            <p:cNvSpPr txBox="1"/>
            <p:nvPr/>
          </p:nvSpPr>
          <p:spPr>
            <a:xfrm>
              <a:off x="8552064" y="2992315"/>
              <a:ext cx="1677785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b="1"/>
                <a:t>Web Address</a:t>
              </a:r>
              <a:endParaRPr lang="ar-SA" sz="800" b="1" dirty="0"/>
            </a:p>
          </p:txBody>
        </p:sp>
        <p:pic>
          <p:nvPicPr>
            <p:cNvPr id="19" name="صورة 18">
              <a:extLst>
                <a:ext uri="{FF2B5EF4-FFF2-40B4-BE49-F238E27FC236}">
                  <a16:creationId xmlns:a16="http://schemas.microsoft.com/office/drawing/2014/main" id="{24D40B49-4177-4944-9C1C-15ED303C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7017059" y="3281874"/>
              <a:ext cx="263872" cy="255985"/>
            </a:xfrm>
            <a:prstGeom prst="rect">
              <a:avLst/>
            </a:prstGeom>
          </p:spPr>
        </p:pic>
        <p:pic>
          <p:nvPicPr>
            <p:cNvPr id="20" name="صورة 19">
              <a:extLst>
                <a:ext uri="{FF2B5EF4-FFF2-40B4-BE49-F238E27FC236}">
                  <a16:creationId xmlns:a16="http://schemas.microsoft.com/office/drawing/2014/main" id="{D627460A-720D-40AF-B133-487D17908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8989662" y="3023752"/>
              <a:ext cx="187634" cy="182026"/>
            </a:xfrm>
            <a:prstGeom prst="rect">
              <a:avLst/>
            </a:prstGeom>
          </p:spPr>
        </p:pic>
      </p:grp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C0D1894B-C634-4CD4-8021-34A9089ACA4A}"/>
              </a:ext>
            </a:extLst>
          </p:cNvPr>
          <p:cNvSpPr txBox="1"/>
          <p:nvPr/>
        </p:nvSpPr>
        <p:spPr>
          <a:xfrm>
            <a:off x="9660194" y="2285981"/>
            <a:ext cx="22812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 www.Cats.com</a:t>
            </a:r>
            <a:endParaRPr lang="ar-SA" b="1" dirty="0">
              <a:solidFill>
                <a:schemeClr val="accent2"/>
              </a:solidFill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9C1D12F3-1AE8-4B71-A628-D6E959E17C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619" y="3022969"/>
            <a:ext cx="2425628" cy="1704870"/>
          </a:xfrm>
          <a:prstGeom prst="rect">
            <a:avLst/>
          </a:prstGeom>
        </p:spPr>
      </p:pic>
      <p:sp>
        <p:nvSpPr>
          <p:cNvPr id="25" name="مربع نص 24">
            <a:extLst>
              <a:ext uri="{FF2B5EF4-FFF2-40B4-BE49-F238E27FC236}">
                <a16:creationId xmlns:a16="http://schemas.microsoft.com/office/drawing/2014/main" id="{E9BFE535-3028-4274-8BDA-61024EFE76A4}"/>
              </a:ext>
            </a:extLst>
          </p:cNvPr>
          <p:cNvSpPr txBox="1"/>
          <p:nvPr/>
        </p:nvSpPr>
        <p:spPr>
          <a:xfrm>
            <a:off x="7100720" y="3667653"/>
            <a:ext cx="228121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 www.Cats.com</a:t>
            </a:r>
            <a:endParaRPr lang="ar-SA" sz="1400" b="1" dirty="0">
              <a:solidFill>
                <a:schemeClr val="accent2"/>
              </a:solidFill>
            </a:endParaRPr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5B791BBC-0181-4851-BCF1-FA9E56D1B57B}"/>
              </a:ext>
            </a:extLst>
          </p:cNvPr>
          <p:cNvSpPr txBox="1"/>
          <p:nvPr/>
        </p:nvSpPr>
        <p:spPr>
          <a:xfrm>
            <a:off x="7501427" y="2921689"/>
            <a:ext cx="163700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browser</a:t>
            </a:r>
            <a:endParaRPr lang="ar-SA" sz="2000" b="1" dirty="0"/>
          </a:p>
        </p:txBody>
      </p:sp>
    </p:spTree>
    <p:extLst>
      <p:ext uri="{BB962C8B-B14F-4D97-AF65-F5344CB8AC3E}">
        <p14:creationId xmlns:p14="http://schemas.microsoft.com/office/powerpoint/2010/main" val="7594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2854851"/>
            <a:ext cx="687113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Request / Response </a:t>
            </a:r>
          </a:p>
          <a:p>
            <a:pPr algn="ctr"/>
            <a:r>
              <a:rPr lang="en-US" sz="4800" b="1" dirty="0"/>
              <a:t>cycle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1323392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64DE43D0-594A-4622-BE38-A95873F4F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19" y="3645832"/>
            <a:ext cx="239463" cy="229572"/>
          </a:xfrm>
          <a:prstGeom prst="rect">
            <a:avLst/>
          </a:prstGeom>
        </p:spPr>
      </p:pic>
      <p:grpSp>
        <p:nvGrpSpPr>
          <p:cNvPr id="21" name="مجموعة 20">
            <a:extLst>
              <a:ext uri="{FF2B5EF4-FFF2-40B4-BE49-F238E27FC236}">
                <a16:creationId xmlns:a16="http://schemas.microsoft.com/office/drawing/2014/main" id="{EDA98920-7A3C-440D-BE58-723037EE4765}"/>
              </a:ext>
            </a:extLst>
          </p:cNvPr>
          <p:cNvGrpSpPr/>
          <p:nvPr/>
        </p:nvGrpSpPr>
        <p:grpSpPr>
          <a:xfrm>
            <a:off x="8659698" y="1350637"/>
            <a:ext cx="2897302" cy="1473125"/>
            <a:chOff x="6744091" y="2884472"/>
            <a:chExt cx="3485758" cy="1772324"/>
          </a:xfrm>
        </p:grpSpPr>
        <p:pic>
          <p:nvPicPr>
            <p:cNvPr id="10" name="صورة 9">
              <a:extLst>
                <a:ext uri="{FF2B5EF4-FFF2-40B4-BE49-F238E27FC236}">
                  <a16:creationId xmlns:a16="http://schemas.microsoft.com/office/drawing/2014/main" id="{7B9A6500-4184-4951-894F-BDB4570B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500" y="2884472"/>
              <a:ext cx="492313" cy="1089055"/>
            </a:xfrm>
            <a:prstGeom prst="rect">
              <a:avLst/>
            </a:prstGeom>
          </p:spPr>
        </p:pic>
        <p:pic>
          <p:nvPicPr>
            <p:cNvPr id="11" name="صورة 10">
              <a:extLst>
                <a:ext uri="{FF2B5EF4-FFF2-40B4-BE49-F238E27FC236}">
                  <a16:creationId xmlns:a16="http://schemas.microsoft.com/office/drawing/2014/main" id="{5C0B1226-60A4-4F3A-85AB-B310C36E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6002" y="3531046"/>
              <a:ext cx="239463" cy="229572"/>
            </a:xfrm>
            <a:prstGeom prst="rect">
              <a:avLst/>
            </a:prstGeom>
          </p:spPr>
        </p:pic>
        <p:pic>
          <p:nvPicPr>
            <p:cNvPr id="13" name="صورة 12">
              <a:extLst>
                <a:ext uri="{FF2B5EF4-FFF2-40B4-BE49-F238E27FC236}">
                  <a16:creationId xmlns:a16="http://schemas.microsoft.com/office/drawing/2014/main" id="{131F31C4-2BA0-47DE-99FA-6DFEC918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172" y="3067691"/>
              <a:ext cx="708704" cy="1589105"/>
            </a:xfrm>
            <a:prstGeom prst="rect">
              <a:avLst/>
            </a:prstGeom>
          </p:spPr>
        </p:pic>
        <p:pic>
          <p:nvPicPr>
            <p:cNvPr id="14" name="صورة 13">
              <a:extLst>
                <a:ext uri="{FF2B5EF4-FFF2-40B4-BE49-F238E27FC236}">
                  <a16:creationId xmlns:a16="http://schemas.microsoft.com/office/drawing/2014/main" id="{362159D0-4246-4C8D-9393-F41D65CA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7792" y="4146753"/>
              <a:ext cx="239463" cy="229572"/>
            </a:xfrm>
            <a:prstGeom prst="rect">
              <a:avLst/>
            </a:prstGeom>
          </p:spPr>
        </p:pic>
        <p:sp>
          <p:nvSpPr>
            <p:cNvPr id="16" name="مربع نص 15">
              <a:extLst>
                <a:ext uri="{FF2B5EF4-FFF2-40B4-BE49-F238E27FC236}">
                  <a16:creationId xmlns:a16="http://schemas.microsoft.com/office/drawing/2014/main" id="{3BEB6857-0EB8-40E2-AF58-F55EFFDC1326}"/>
                </a:ext>
              </a:extLst>
            </p:cNvPr>
            <p:cNvSpPr txBox="1"/>
            <p:nvPr/>
          </p:nvSpPr>
          <p:spPr>
            <a:xfrm>
              <a:off x="6744091" y="3273105"/>
              <a:ext cx="1677785" cy="24622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00" b="1" dirty="0"/>
                <a:t>Web Address</a:t>
              </a:r>
              <a:endParaRPr lang="ar-SA" sz="1000" b="1" dirty="0"/>
            </a:p>
          </p:txBody>
        </p:sp>
        <p:sp>
          <p:nvSpPr>
            <p:cNvPr id="17" name="مربع نص 16">
              <a:extLst>
                <a:ext uri="{FF2B5EF4-FFF2-40B4-BE49-F238E27FC236}">
                  <a16:creationId xmlns:a16="http://schemas.microsoft.com/office/drawing/2014/main" id="{AC2AD08A-4C40-4AB2-B75E-688795FB9E73}"/>
                </a:ext>
              </a:extLst>
            </p:cNvPr>
            <p:cNvSpPr txBox="1"/>
            <p:nvPr/>
          </p:nvSpPr>
          <p:spPr>
            <a:xfrm>
              <a:off x="8552064" y="2992315"/>
              <a:ext cx="1677785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b="1"/>
                <a:t>Web Address</a:t>
              </a:r>
              <a:endParaRPr lang="ar-SA" sz="800" b="1" dirty="0"/>
            </a:p>
          </p:txBody>
        </p:sp>
        <p:pic>
          <p:nvPicPr>
            <p:cNvPr id="19" name="صورة 18">
              <a:extLst>
                <a:ext uri="{FF2B5EF4-FFF2-40B4-BE49-F238E27FC236}">
                  <a16:creationId xmlns:a16="http://schemas.microsoft.com/office/drawing/2014/main" id="{24D40B49-4177-4944-9C1C-15ED303C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7017059" y="3281874"/>
              <a:ext cx="263872" cy="255985"/>
            </a:xfrm>
            <a:prstGeom prst="rect">
              <a:avLst/>
            </a:prstGeom>
          </p:spPr>
        </p:pic>
        <p:pic>
          <p:nvPicPr>
            <p:cNvPr id="20" name="صورة 19">
              <a:extLst>
                <a:ext uri="{FF2B5EF4-FFF2-40B4-BE49-F238E27FC236}">
                  <a16:creationId xmlns:a16="http://schemas.microsoft.com/office/drawing/2014/main" id="{D627460A-720D-40AF-B133-487D17908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8989662" y="3023752"/>
              <a:ext cx="187634" cy="182026"/>
            </a:xfrm>
            <a:prstGeom prst="rect">
              <a:avLst/>
            </a:prstGeom>
          </p:spPr>
        </p:pic>
      </p:grp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C0D1894B-C634-4CD4-8021-34A9089ACA4A}"/>
              </a:ext>
            </a:extLst>
          </p:cNvPr>
          <p:cNvSpPr txBox="1"/>
          <p:nvPr/>
        </p:nvSpPr>
        <p:spPr>
          <a:xfrm>
            <a:off x="9660194" y="2285981"/>
            <a:ext cx="22812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 www.Cats.com</a:t>
            </a:r>
            <a:endParaRPr lang="ar-SA" b="1" dirty="0">
              <a:solidFill>
                <a:schemeClr val="accent2"/>
              </a:solidFill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D8DF08E-E25E-470E-8368-8125FB94D8D7}"/>
              </a:ext>
            </a:extLst>
          </p:cNvPr>
          <p:cNvGrpSpPr/>
          <p:nvPr/>
        </p:nvGrpSpPr>
        <p:grpSpPr>
          <a:xfrm>
            <a:off x="7075114" y="2942709"/>
            <a:ext cx="2811319" cy="1806150"/>
            <a:chOff x="6570619" y="2921689"/>
            <a:chExt cx="2811319" cy="1806150"/>
          </a:xfrm>
        </p:grpSpPr>
        <p:pic>
          <p:nvPicPr>
            <p:cNvPr id="24" name="صورة 23">
              <a:extLst>
                <a:ext uri="{FF2B5EF4-FFF2-40B4-BE49-F238E27FC236}">
                  <a16:creationId xmlns:a16="http://schemas.microsoft.com/office/drawing/2014/main" id="{9C1D12F3-1AE8-4B71-A628-D6E959E1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0619" y="3022969"/>
              <a:ext cx="2425628" cy="1704870"/>
            </a:xfrm>
            <a:prstGeom prst="rect">
              <a:avLst/>
            </a:prstGeom>
          </p:spPr>
        </p:pic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E9BFE535-3028-4274-8BDA-61024EFE76A4}"/>
                </a:ext>
              </a:extLst>
            </p:cNvPr>
            <p:cNvSpPr txBox="1"/>
            <p:nvPr/>
          </p:nvSpPr>
          <p:spPr>
            <a:xfrm>
              <a:off x="7100720" y="3667653"/>
              <a:ext cx="228121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/>
                  </a:solidFill>
                </a:rPr>
                <a:t> www.Cats.com</a:t>
              </a:r>
              <a:endParaRPr lang="ar-SA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مربع نص 25">
              <a:extLst>
                <a:ext uri="{FF2B5EF4-FFF2-40B4-BE49-F238E27FC236}">
                  <a16:creationId xmlns:a16="http://schemas.microsoft.com/office/drawing/2014/main" id="{5B791BBC-0181-4851-BCF1-FA9E56D1B57B}"/>
                </a:ext>
              </a:extLst>
            </p:cNvPr>
            <p:cNvSpPr txBox="1"/>
            <p:nvPr/>
          </p:nvSpPr>
          <p:spPr>
            <a:xfrm>
              <a:off x="7501427" y="2921689"/>
              <a:ext cx="1637003" cy="4001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2000" b="1" dirty="0"/>
                <a:t>Web browser</a:t>
              </a:r>
              <a:endParaRPr lang="ar-SA" sz="2000" b="1" dirty="0"/>
            </a:p>
          </p:txBody>
        </p:sp>
      </p:grpSp>
      <p:sp>
        <p:nvSpPr>
          <p:cNvPr id="23" name="سهم: منحني لأسفل 22">
            <a:extLst>
              <a:ext uri="{FF2B5EF4-FFF2-40B4-BE49-F238E27FC236}">
                <a16:creationId xmlns:a16="http://schemas.microsoft.com/office/drawing/2014/main" id="{E25C1DB9-1970-4EED-AA75-4420A63765A0}"/>
              </a:ext>
            </a:extLst>
          </p:cNvPr>
          <p:cNvSpPr/>
          <p:nvPr/>
        </p:nvSpPr>
        <p:spPr>
          <a:xfrm>
            <a:off x="4899259" y="2942709"/>
            <a:ext cx="2320265" cy="85713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  <p:sp>
        <p:nvSpPr>
          <p:cNvPr id="27" name="سهم: منحني لأسفل 26">
            <a:extLst>
              <a:ext uri="{FF2B5EF4-FFF2-40B4-BE49-F238E27FC236}">
                <a16:creationId xmlns:a16="http://schemas.microsoft.com/office/drawing/2014/main" id="{4F3E97D2-977B-4AA5-ABEB-CDA9807F72CC}"/>
              </a:ext>
            </a:extLst>
          </p:cNvPr>
          <p:cNvSpPr/>
          <p:nvPr/>
        </p:nvSpPr>
        <p:spPr>
          <a:xfrm rot="10560662">
            <a:off x="4881438" y="4202951"/>
            <a:ext cx="2320265" cy="85713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8A0D829A-7AB8-4440-95F0-F2396A21CFAC}"/>
              </a:ext>
            </a:extLst>
          </p:cNvPr>
          <p:cNvSpPr txBox="1"/>
          <p:nvPr/>
        </p:nvSpPr>
        <p:spPr>
          <a:xfrm>
            <a:off x="5564188" y="5063083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request</a:t>
            </a:r>
            <a:endParaRPr lang="ar-SA" sz="2000" b="1" dirty="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175EE92E-6D5D-43B6-B3FF-56F788B8BFE0}"/>
              </a:ext>
            </a:extLst>
          </p:cNvPr>
          <p:cNvSpPr txBox="1"/>
          <p:nvPr/>
        </p:nvSpPr>
        <p:spPr>
          <a:xfrm>
            <a:off x="5414922" y="3157399"/>
            <a:ext cx="120196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response</a:t>
            </a:r>
            <a:endParaRPr lang="ar-SA" sz="2000" b="1" dirty="0"/>
          </a:p>
        </p:txBody>
      </p:sp>
    </p:spTree>
    <p:extLst>
      <p:ext uri="{BB962C8B-B14F-4D97-AF65-F5344CB8AC3E}">
        <p14:creationId xmlns:p14="http://schemas.microsoft.com/office/powerpoint/2010/main" val="377492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013501"/>
            <a:ext cx="47244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Client - Server relationship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3373365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4B669E1-71E6-4316-B42A-090E8A4F8F83}"/>
              </a:ext>
            </a:extLst>
          </p:cNvPr>
          <p:cNvSpPr txBox="1"/>
          <p:nvPr/>
        </p:nvSpPr>
        <p:spPr>
          <a:xfrm>
            <a:off x="1584960" y="2125201"/>
            <a:ext cx="861568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طبعاً مما سبق نقول ان هناك جانب من الويب يراه المستخدم بينما هناك جانب مخفي تماما عنه (ما خلف الكواليس) </a:t>
            </a: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...</a:t>
            </a: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الجانب المرئي يسمى – جانب العميل </a:t>
            </a:r>
            <a:r>
              <a:rPr lang="en-US" sz="24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client-side</a:t>
            </a:r>
            <a:endParaRPr lang="ar-SA" sz="24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بينما ذلك الجزء الخلفي يسمى – جانب الخادم </a:t>
            </a:r>
            <a:r>
              <a:rPr lang="en-US" sz="24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server-side</a:t>
            </a:r>
            <a:endParaRPr lang="ar-SA" sz="24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835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AA87077-2B17-4508-B237-4CDDB3AA3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A51047BA-8654-422E-80E9-0C72F2D23B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3" y="2991732"/>
            <a:ext cx="1388496" cy="2148016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5D5A365-1108-478A-86EE-7908A79D2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14" y="4146753"/>
            <a:ext cx="578721" cy="55481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B329CCD5-FCE1-456C-9FD7-A35A9D2739F8}"/>
              </a:ext>
            </a:extLst>
          </p:cNvPr>
          <p:cNvSpPr txBox="1"/>
          <p:nvPr/>
        </p:nvSpPr>
        <p:spPr>
          <a:xfrm>
            <a:off x="3920114" y="4701571"/>
            <a:ext cx="104135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website</a:t>
            </a:r>
            <a:endParaRPr lang="ar-SA" sz="2000" b="1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3DCB0B2-9758-4059-979D-11953B2DDBBF}"/>
              </a:ext>
            </a:extLst>
          </p:cNvPr>
          <p:cNvSpPr txBox="1"/>
          <p:nvPr/>
        </p:nvSpPr>
        <p:spPr>
          <a:xfrm>
            <a:off x="2402464" y="3228945"/>
            <a:ext cx="1041353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Web server</a:t>
            </a:r>
            <a:endParaRPr lang="ar-SA" sz="2000" b="1" dirty="0"/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64DE43D0-594A-4622-BE38-A95873F4F0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19" y="3645832"/>
            <a:ext cx="239463" cy="229572"/>
          </a:xfrm>
          <a:prstGeom prst="rect">
            <a:avLst/>
          </a:prstGeom>
        </p:spPr>
      </p:pic>
      <p:grpSp>
        <p:nvGrpSpPr>
          <p:cNvPr id="21" name="مجموعة 20">
            <a:extLst>
              <a:ext uri="{FF2B5EF4-FFF2-40B4-BE49-F238E27FC236}">
                <a16:creationId xmlns:a16="http://schemas.microsoft.com/office/drawing/2014/main" id="{EDA98920-7A3C-440D-BE58-723037EE4765}"/>
              </a:ext>
            </a:extLst>
          </p:cNvPr>
          <p:cNvGrpSpPr/>
          <p:nvPr/>
        </p:nvGrpSpPr>
        <p:grpSpPr>
          <a:xfrm>
            <a:off x="8659698" y="1350637"/>
            <a:ext cx="2897302" cy="1473125"/>
            <a:chOff x="6744091" y="2884472"/>
            <a:chExt cx="3485758" cy="1772324"/>
          </a:xfrm>
        </p:grpSpPr>
        <p:pic>
          <p:nvPicPr>
            <p:cNvPr id="10" name="صورة 9">
              <a:extLst>
                <a:ext uri="{FF2B5EF4-FFF2-40B4-BE49-F238E27FC236}">
                  <a16:creationId xmlns:a16="http://schemas.microsoft.com/office/drawing/2014/main" id="{7B9A6500-4184-4951-894F-BDB4570B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4500" y="2884472"/>
              <a:ext cx="492313" cy="1089055"/>
            </a:xfrm>
            <a:prstGeom prst="rect">
              <a:avLst/>
            </a:prstGeom>
          </p:spPr>
        </p:pic>
        <p:pic>
          <p:nvPicPr>
            <p:cNvPr id="11" name="صورة 10">
              <a:extLst>
                <a:ext uri="{FF2B5EF4-FFF2-40B4-BE49-F238E27FC236}">
                  <a16:creationId xmlns:a16="http://schemas.microsoft.com/office/drawing/2014/main" id="{5C0B1226-60A4-4F3A-85AB-B310C36E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6002" y="3531046"/>
              <a:ext cx="239463" cy="229572"/>
            </a:xfrm>
            <a:prstGeom prst="rect">
              <a:avLst/>
            </a:prstGeom>
          </p:spPr>
        </p:pic>
        <p:pic>
          <p:nvPicPr>
            <p:cNvPr id="13" name="صورة 12">
              <a:extLst>
                <a:ext uri="{FF2B5EF4-FFF2-40B4-BE49-F238E27FC236}">
                  <a16:creationId xmlns:a16="http://schemas.microsoft.com/office/drawing/2014/main" id="{131F31C4-2BA0-47DE-99FA-6DFEC918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172" y="3067691"/>
              <a:ext cx="708704" cy="1589105"/>
            </a:xfrm>
            <a:prstGeom prst="rect">
              <a:avLst/>
            </a:prstGeom>
          </p:spPr>
        </p:pic>
        <p:pic>
          <p:nvPicPr>
            <p:cNvPr id="14" name="صورة 13">
              <a:extLst>
                <a:ext uri="{FF2B5EF4-FFF2-40B4-BE49-F238E27FC236}">
                  <a16:creationId xmlns:a16="http://schemas.microsoft.com/office/drawing/2014/main" id="{362159D0-4246-4C8D-9393-F41D65CA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7792" y="4146753"/>
              <a:ext cx="239463" cy="229572"/>
            </a:xfrm>
            <a:prstGeom prst="rect">
              <a:avLst/>
            </a:prstGeom>
          </p:spPr>
        </p:pic>
        <p:sp>
          <p:nvSpPr>
            <p:cNvPr id="16" name="مربع نص 15">
              <a:extLst>
                <a:ext uri="{FF2B5EF4-FFF2-40B4-BE49-F238E27FC236}">
                  <a16:creationId xmlns:a16="http://schemas.microsoft.com/office/drawing/2014/main" id="{3BEB6857-0EB8-40E2-AF58-F55EFFDC1326}"/>
                </a:ext>
              </a:extLst>
            </p:cNvPr>
            <p:cNvSpPr txBox="1"/>
            <p:nvPr/>
          </p:nvSpPr>
          <p:spPr>
            <a:xfrm>
              <a:off x="6744091" y="3273105"/>
              <a:ext cx="1677785" cy="24622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00" b="1" dirty="0"/>
                <a:t>Web Address</a:t>
              </a:r>
              <a:endParaRPr lang="ar-SA" sz="1000" b="1" dirty="0"/>
            </a:p>
          </p:txBody>
        </p:sp>
        <p:sp>
          <p:nvSpPr>
            <p:cNvPr id="17" name="مربع نص 16">
              <a:extLst>
                <a:ext uri="{FF2B5EF4-FFF2-40B4-BE49-F238E27FC236}">
                  <a16:creationId xmlns:a16="http://schemas.microsoft.com/office/drawing/2014/main" id="{AC2AD08A-4C40-4AB2-B75E-688795FB9E73}"/>
                </a:ext>
              </a:extLst>
            </p:cNvPr>
            <p:cNvSpPr txBox="1"/>
            <p:nvPr/>
          </p:nvSpPr>
          <p:spPr>
            <a:xfrm>
              <a:off x="8552064" y="2992315"/>
              <a:ext cx="1677785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b="1"/>
                <a:t>Web Address</a:t>
              </a:r>
              <a:endParaRPr lang="ar-SA" sz="800" b="1" dirty="0"/>
            </a:p>
          </p:txBody>
        </p:sp>
        <p:pic>
          <p:nvPicPr>
            <p:cNvPr id="19" name="صورة 18">
              <a:extLst>
                <a:ext uri="{FF2B5EF4-FFF2-40B4-BE49-F238E27FC236}">
                  <a16:creationId xmlns:a16="http://schemas.microsoft.com/office/drawing/2014/main" id="{24D40B49-4177-4944-9C1C-15ED303C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7017059" y="3281874"/>
              <a:ext cx="263872" cy="255985"/>
            </a:xfrm>
            <a:prstGeom prst="rect">
              <a:avLst/>
            </a:prstGeom>
          </p:spPr>
        </p:pic>
        <p:pic>
          <p:nvPicPr>
            <p:cNvPr id="20" name="صورة 19">
              <a:extLst>
                <a:ext uri="{FF2B5EF4-FFF2-40B4-BE49-F238E27FC236}">
                  <a16:creationId xmlns:a16="http://schemas.microsoft.com/office/drawing/2014/main" id="{D627460A-720D-40AF-B133-487D17908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63803">
              <a:off x="8989662" y="3023752"/>
              <a:ext cx="187634" cy="182026"/>
            </a:xfrm>
            <a:prstGeom prst="rect">
              <a:avLst/>
            </a:prstGeom>
          </p:spPr>
        </p:pic>
      </p:grp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C0D1894B-C634-4CD4-8021-34A9089ACA4A}"/>
              </a:ext>
            </a:extLst>
          </p:cNvPr>
          <p:cNvSpPr txBox="1"/>
          <p:nvPr/>
        </p:nvSpPr>
        <p:spPr>
          <a:xfrm>
            <a:off x="9660194" y="2285981"/>
            <a:ext cx="228121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 www.Cats.com</a:t>
            </a:r>
            <a:endParaRPr lang="ar-SA" b="1" dirty="0">
              <a:solidFill>
                <a:schemeClr val="accent2"/>
              </a:solidFill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D8DF08E-E25E-470E-8368-8125FB94D8D7}"/>
              </a:ext>
            </a:extLst>
          </p:cNvPr>
          <p:cNvGrpSpPr/>
          <p:nvPr/>
        </p:nvGrpSpPr>
        <p:grpSpPr>
          <a:xfrm>
            <a:off x="7075114" y="2942709"/>
            <a:ext cx="2811319" cy="1806150"/>
            <a:chOff x="6570619" y="2921689"/>
            <a:chExt cx="2811319" cy="1806150"/>
          </a:xfrm>
        </p:grpSpPr>
        <p:pic>
          <p:nvPicPr>
            <p:cNvPr id="24" name="صورة 23">
              <a:extLst>
                <a:ext uri="{FF2B5EF4-FFF2-40B4-BE49-F238E27FC236}">
                  <a16:creationId xmlns:a16="http://schemas.microsoft.com/office/drawing/2014/main" id="{9C1D12F3-1AE8-4B71-A628-D6E959E1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0619" y="3022969"/>
              <a:ext cx="2425628" cy="1704870"/>
            </a:xfrm>
            <a:prstGeom prst="rect">
              <a:avLst/>
            </a:prstGeom>
          </p:spPr>
        </p:pic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E9BFE535-3028-4274-8BDA-61024EFE76A4}"/>
                </a:ext>
              </a:extLst>
            </p:cNvPr>
            <p:cNvSpPr txBox="1"/>
            <p:nvPr/>
          </p:nvSpPr>
          <p:spPr>
            <a:xfrm>
              <a:off x="7100720" y="3667653"/>
              <a:ext cx="228121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/>
                  </a:solidFill>
                </a:rPr>
                <a:t> www.Cats.com</a:t>
              </a:r>
              <a:endParaRPr lang="ar-SA" sz="1400" b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مربع نص 25">
              <a:extLst>
                <a:ext uri="{FF2B5EF4-FFF2-40B4-BE49-F238E27FC236}">
                  <a16:creationId xmlns:a16="http://schemas.microsoft.com/office/drawing/2014/main" id="{5B791BBC-0181-4851-BCF1-FA9E56D1B57B}"/>
                </a:ext>
              </a:extLst>
            </p:cNvPr>
            <p:cNvSpPr txBox="1"/>
            <p:nvPr/>
          </p:nvSpPr>
          <p:spPr>
            <a:xfrm>
              <a:off x="7501427" y="2921689"/>
              <a:ext cx="1637003" cy="4001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2000" b="1" dirty="0"/>
                <a:t>Web browser</a:t>
              </a:r>
              <a:endParaRPr lang="ar-SA" sz="2000" b="1" dirty="0"/>
            </a:p>
          </p:txBody>
        </p:sp>
      </p:grp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C836577B-9540-4DA4-8C5E-430BD9CEDBA7}"/>
              </a:ext>
            </a:extLst>
          </p:cNvPr>
          <p:cNvCxnSpPr/>
          <p:nvPr/>
        </p:nvCxnSpPr>
        <p:spPr>
          <a:xfrm>
            <a:off x="6278880" y="2285981"/>
            <a:ext cx="0" cy="345441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79B76952-7842-494E-9ED2-5A60E0A4E541}"/>
              </a:ext>
            </a:extLst>
          </p:cNvPr>
          <p:cNvSpPr txBox="1"/>
          <p:nvPr/>
        </p:nvSpPr>
        <p:spPr>
          <a:xfrm>
            <a:off x="6648203" y="5094713"/>
            <a:ext cx="135771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Client-side</a:t>
            </a:r>
            <a:endParaRPr lang="ar-SA" sz="2000" b="1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EAF46FFA-736D-4250-8769-7B131610046D}"/>
              </a:ext>
            </a:extLst>
          </p:cNvPr>
          <p:cNvSpPr txBox="1"/>
          <p:nvPr/>
        </p:nvSpPr>
        <p:spPr>
          <a:xfrm>
            <a:off x="4736922" y="5139748"/>
            <a:ext cx="135771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/>
              <a:t>server-side</a:t>
            </a:r>
            <a:endParaRPr lang="ar-SA" sz="2000" b="1" dirty="0"/>
          </a:p>
        </p:txBody>
      </p:sp>
    </p:spTree>
    <p:extLst>
      <p:ext uri="{BB962C8B-B14F-4D97-AF65-F5344CB8AC3E}">
        <p14:creationId xmlns:p14="http://schemas.microsoft.com/office/powerpoint/2010/main" val="376400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>
            <a:extLst>
              <a:ext uri="{FF2B5EF4-FFF2-40B4-BE49-F238E27FC236}">
                <a16:creationId xmlns:a16="http://schemas.microsoft.com/office/drawing/2014/main" id="{6434BE11-3585-4F31-AEF1-13CF935C9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9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3021520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Front-end VS Back-end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2720723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4150360" y="1166078"/>
            <a:ext cx="6050280" cy="6848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rtl="1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800" b="1" kern="1200" dirty="0">
                <a:solidFill>
                  <a:srgbClr val="000000"/>
                </a:solidFill>
                <a:effectLst/>
                <a:latin typeface="TheSans" panose="020B0503040302020203" pitchFamily="34" charset="-78"/>
                <a:ea typeface="+mn-ea"/>
                <a:cs typeface="TheSans" panose="020B0503040302020203" pitchFamily="34" charset="-78"/>
              </a:rPr>
              <a:t>مثال توضيحي:</a:t>
            </a:r>
            <a:endParaRPr lang="ar-SA" sz="6600" dirty="0">
              <a:effectLst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36B45F8-983F-4393-9DAB-C6F3451A5FB6}"/>
              </a:ext>
            </a:extLst>
          </p:cNvPr>
          <p:cNvSpPr txBox="1"/>
          <p:nvPr/>
        </p:nvSpPr>
        <p:spPr>
          <a:xfrm>
            <a:off x="1584960" y="1850881"/>
            <a:ext cx="86156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تسجيل الدخول على موقع ويب:</a:t>
            </a:r>
          </a:p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الجانب الأمامي </a:t>
            </a:r>
            <a:r>
              <a:rPr lang="en-US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Front-end</a:t>
            </a:r>
            <a:r>
              <a:rPr lang="ar-SA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: 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المستخدم يكتب اسمه وكلمة المرور ويضغط (</a:t>
            </a:r>
            <a:r>
              <a:rPr lang="en-US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login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)</a:t>
            </a:r>
            <a:endParaRPr lang="ar-SA" sz="24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267CAB17-AAF0-48A3-BC60-216FC783F01A}"/>
              </a:ext>
            </a:extLst>
          </p:cNvPr>
          <p:cNvSpPr txBox="1"/>
          <p:nvPr/>
        </p:nvSpPr>
        <p:spPr>
          <a:xfrm>
            <a:off x="1584960" y="3721939"/>
            <a:ext cx="86156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الجانب الخلفي </a:t>
            </a:r>
            <a:r>
              <a:rPr lang="en-US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Back-end</a:t>
            </a:r>
            <a:r>
              <a:rPr lang="ar-SA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:</a:t>
            </a:r>
            <a:r>
              <a:rPr lang="ar-AE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</a:t>
            </a:r>
            <a:r>
              <a:rPr lang="ar-AE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السيرفر يستقبل البيانات ويتحقق من وجود اسم  المستخدم وكلمة السر داخل قاعدة البيانات ثم  يرسل النتيجة </a:t>
            </a:r>
            <a:endParaRPr lang="ar-SA" sz="24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0255351A-56C5-4828-A8F5-5DCC25DD5420}"/>
              </a:ext>
            </a:extLst>
          </p:cNvPr>
          <p:cNvSpPr txBox="1"/>
          <p:nvPr/>
        </p:nvSpPr>
        <p:spPr>
          <a:xfrm>
            <a:off x="1584960" y="5404759"/>
            <a:ext cx="8615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الجانب الأمامي </a:t>
            </a:r>
            <a:r>
              <a:rPr lang="en-US" sz="24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Front-end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: يعرض النتيجة (نجاح | فشل)</a:t>
            </a:r>
            <a:endParaRPr lang="ar-SA" sz="24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88418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4293B9D0-DE80-4EAD-BF23-AE52FA9D5122}"/>
              </a:ext>
            </a:extLst>
          </p:cNvPr>
          <p:cNvSpPr txBox="1"/>
          <p:nvPr/>
        </p:nvSpPr>
        <p:spPr>
          <a:xfrm>
            <a:off x="1702513" y="6221473"/>
            <a:ext cx="8786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https://login.framer.com/complete-sign-up/286d519c-8b8e-4185-b0f5-5a5af3e2598a/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4BAB4F4D-A619-411D-AED9-0DE38DE06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978"/>
            <a:ext cx="12192000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34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3027571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Web language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1208006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C1695951-EB88-4080-965A-72DB60187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9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DE4D160F-61E0-48E8-B4C4-F7CFD61BA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539" y="2042401"/>
            <a:ext cx="3572922" cy="2552992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139E6A9A-6E35-4C17-A5C1-4303561BEA18}"/>
              </a:ext>
            </a:extLst>
          </p:cNvPr>
          <p:cNvSpPr txBox="1"/>
          <p:nvPr/>
        </p:nvSpPr>
        <p:spPr>
          <a:xfrm>
            <a:off x="2660431" y="4672179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effectLst/>
              </a:rPr>
              <a:t>Web Languages</a:t>
            </a:r>
            <a:endParaRPr lang="ar-SA" sz="4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57D321F2-EC17-40F3-BBE8-B4167C16CB94}"/>
              </a:ext>
            </a:extLst>
          </p:cNvPr>
          <p:cNvSpPr txBox="1"/>
          <p:nvPr/>
        </p:nvSpPr>
        <p:spPr>
          <a:xfrm>
            <a:off x="2008796" y="5615514"/>
            <a:ext cx="861716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800" b="1" dirty="0">
                <a:solidFill>
                  <a:srgbClr val="FF0000"/>
                </a:solidFill>
                <a:effectLst/>
              </a:rPr>
              <a:t>Content </a:t>
            </a:r>
            <a:r>
              <a:rPr lang="en-US" sz="2800" b="1" dirty="0">
                <a:effectLst/>
                <a:sym typeface="Wingdings" panose="05000000000000000000" pitchFamily="2" charset="2"/>
              </a:rPr>
              <a:t> </a:t>
            </a:r>
            <a:r>
              <a:rPr lang="en-US" sz="2800" b="1" dirty="0">
                <a:solidFill>
                  <a:srgbClr val="FF0000"/>
                </a:solidFill>
                <a:effectLst/>
                <a:sym typeface="Wingdings" panose="05000000000000000000" pitchFamily="2" charset="2"/>
              </a:rPr>
              <a:t>Style </a:t>
            </a:r>
            <a:r>
              <a:rPr lang="en-US" sz="2800" b="1" dirty="0">
                <a:effectLst/>
                <a:sym typeface="Wingdings" panose="05000000000000000000" pitchFamily="2" charset="2"/>
              </a:rPr>
              <a:t></a:t>
            </a:r>
            <a:r>
              <a:rPr lang="en-US" sz="2800" b="1" dirty="0">
                <a:solidFill>
                  <a:srgbClr val="FF0000"/>
                </a:solidFill>
                <a:effectLst/>
                <a:sym typeface="Wingdings" panose="05000000000000000000" pitchFamily="2" charset="2"/>
              </a:rPr>
              <a:t>Interaction</a:t>
            </a:r>
            <a:endParaRPr lang="ar-SA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431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>
            <a:extLst>
              <a:ext uri="{FF2B5EF4-FFF2-40B4-BE49-F238E27FC236}">
                <a16:creationId xmlns:a16="http://schemas.microsoft.com/office/drawing/2014/main" id="{6434BE11-3585-4F31-AEF1-13CF935C9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9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2274838"/>
            <a:ext cx="687113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Example</a:t>
            </a:r>
            <a:endParaRPr lang="ar-SA" sz="4800" b="1" dirty="0">
              <a:effectLst/>
            </a:endParaRPr>
          </a:p>
          <a:p>
            <a:pPr algn="ctr"/>
            <a:r>
              <a:rPr lang="en-US" sz="4800" b="1" dirty="0"/>
              <a:t>Restaurant website</a:t>
            </a:r>
          </a:p>
          <a:p>
            <a:pPr algn="ctr"/>
            <a:r>
              <a:rPr lang="en-US" sz="4800" b="1" dirty="0"/>
              <a:t>Simple CV </a:t>
            </a:r>
            <a:r>
              <a:rPr lang="en-US" sz="4800" b="1" dirty="0" err="1"/>
              <a:t>wevsite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3088857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2035701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ERROR</a:t>
            </a:r>
            <a:r>
              <a:rPr lang="en-US" sz="4800" b="1" dirty="0"/>
              <a:t> CODE</a:t>
            </a:r>
            <a:endParaRPr lang="ar-SA" sz="4800" b="1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883682D0-3E3F-47C7-9AB8-4D21CD47A53F}"/>
              </a:ext>
            </a:extLst>
          </p:cNvPr>
          <p:cNvSpPr txBox="1"/>
          <p:nvPr/>
        </p:nvSpPr>
        <p:spPr>
          <a:xfrm>
            <a:off x="2660431" y="3031063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</a:rPr>
              <a:t>EX: 404 , 500 , ….</a:t>
            </a:r>
            <a:endParaRPr lang="ar-SA" sz="4800" b="1" dirty="0">
              <a:solidFill>
                <a:schemeClr val="accent1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87B1704A-C5E0-4D39-AB52-B95096AC5FF7}"/>
              </a:ext>
            </a:extLst>
          </p:cNvPr>
          <p:cNvSpPr txBox="1"/>
          <p:nvPr/>
        </p:nvSpPr>
        <p:spPr>
          <a:xfrm>
            <a:off x="2660431" y="4055342"/>
            <a:ext cx="687113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/>
              <a:t>file not found , the server down , ….</a:t>
            </a:r>
            <a:endParaRPr lang="ar-SA" sz="32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17A285E-6F2F-48AB-8EF1-27AFDF42229A}"/>
              </a:ext>
            </a:extLst>
          </p:cNvPr>
          <p:cNvSpPr txBox="1"/>
          <p:nvPr/>
        </p:nvSpPr>
        <p:spPr>
          <a:xfrm>
            <a:off x="3048000" y="52334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https://httpstat.us/500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56D9B68E-30E8-402B-99F0-E0F251D99810}"/>
              </a:ext>
            </a:extLst>
          </p:cNvPr>
          <p:cNvSpPr txBox="1"/>
          <p:nvPr/>
        </p:nvSpPr>
        <p:spPr>
          <a:xfrm>
            <a:off x="3000375" y="5651508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https://www.amazon.com/thispagedoesnotexist</a:t>
            </a:r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EBB56D86-C2E5-49C0-A15A-903B5CAA16FC}"/>
              </a:ext>
            </a:extLst>
          </p:cNvPr>
          <p:cNvSpPr txBox="1"/>
          <p:nvPr/>
        </p:nvSpPr>
        <p:spPr>
          <a:xfrm>
            <a:off x="3143250" y="4814348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ar-SA" dirty="0"/>
              <a:t>https://www.google.com/contact%20page</a:t>
            </a:r>
          </a:p>
        </p:txBody>
      </p:sp>
    </p:spTree>
    <p:extLst>
      <p:ext uri="{BB962C8B-B14F-4D97-AF65-F5344CB8AC3E}">
        <p14:creationId xmlns:p14="http://schemas.microsoft.com/office/powerpoint/2010/main" val="2188320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2854851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HTTP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2991260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2217571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</a:rPr>
              <a:t>URL – Three parts</a:t>
            </a:r>
            <a:endParaRPr lang="ar-SA" sz="4800" b="1" dirty="0">
              <a:solidFill>
                <a:schemeClr val="accent1"/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7C6B114-A323-4B6F-BAE3-59CACC0DF84E}"/>
              </a:ext>
            </a:extLst>
          </p:cNvPr>
          <p:cNvSpPr txBox="1"/>
          <p:nvPr/>
        </p:nvSpPr>
        <p:spPr>
          <a:xfrm>
            <a:off x="891540" y="3261511"/>
            <a:ext cx="1052703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Protocol</a:t>
            </a:r>
            <a:r>
              <a:rPr lang="en-US" sz="4800" dirty="0"/>
              <a:t> -&gt; </a:t>
            </a:r>
            <a:r>
              <a:rPr lang="en-US" sz="4800" dirty="0">
                <a:solidFill>
                  <a:srgbClr val="C00000"/>
                </a:solidFill>
              </a:rPr>
              <a:t>Domain -</a:t>
            </a:r>
            <a:r>
              <a:rPr lang="en-US" sz="4800" dirty="0"/>
              <a:t>&gt; </a:t>
            </a:r>
            <a:r>
              <a:rPr lang="en-US" sz="4800" dirty="0">
                <a:solidFill>
                  <a:srgbClr val="FFC000"/>
                </a:solidFill>
              </a:rPr>
              <a:t>Document</a:t>
            </a:r>
            <a:endParaRPr lang="ar-SA" sz="4800" dirty="0">
              <a:solidFill>
                <a:srgbClr val="FFC000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720A28D8-5843-410E-8770-FB014DAE4FB2}"/>
              </a:ext>
            </a:extLst>
          </p:cNvPr>
          <p:cNvSpPr txBox="1"/>
          <p:nvPr/>
        </p:nvSpPr>
        <p:spPr>
          <a:xfrm>
            <a:off x="1878092" y="4305451"/>
            <a:ext cx="84358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ar-SA" sz="4400" b="1" dirty="0">
                <a:solidFill>
                  <a:schemeClr val="accent6">
                    <a:lumMod val="75000"/>
                  </a:schemeClr>
                </a:solidFill>
              </a:rPr>
              <a:t>https</a:t>
            </a:r>
            <a:r>
              <a:rPr lang="ar-SA" sz="4400" b="1" dirty="0"/>
              <a:t>://</a:t>
            </a:r>
            <a:r>
              <a:rPr lang="ar-SA" sz="4400" b="1" dirty="0">
                <a:solidFill>
                  <a:srgbClr val="C00000"/>
                </a:solidFill>
              </a:rPr>
              <a:t>www</a:t>
            </a:r>
            <a:r>
              <a:rPr lang="en-US" sz="4400" b="1" dirty="0">
                <a:solidFill>
                  <a:srgbClr val="C00000"/>
                </a:solidFill>
              </a:rPr>
              <a:t>.w3school.</a:t>
            </a:r>
            <a:r>
              <a:rPr lang="ar-SA" sz="4400" b="1" dirty="0" err="1">
                <a:solidFill>
                  <a:srgbClr val="C00000"/>
                </a:solidFill>
              </a:rPr>
              <a:t>com</a:t>
            </a:r>
            <a:r>
              <a:rPr lang="ar-SA" sz="4400" b="1" dirty="0"/>
              <a:t>/</a:t>
            </a:r>
            <a:r>
              <a:rPr lang="en-US" sz="4400" b="1" dirty="0">
                <a:solidFill>
                  <a:srgbClr val="FFC000"/>
                </a:solidFill>
              </a:rPr>
              <a:t>contact</a:t>
            </a:r>
            <a:endParaRPr lang="ar-SA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11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4B669E1-71E6-4316-B42A-090E8A4F8F83}"/>
              </a:ext>
            </a:extLst>
          </p:cNvPr>
          <p:cNvSpPr txBox="1"/>
          <p:nvPr/>
        </p:nvSpPr>
        <p:spPr>
          <a:xfrm>
            <a:off x="1041400" y="1877007"/>
            <a:ext cx="1010920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سـ</a:t>
            </a:r>
            <a:r>
              <a:rPr lang="en-US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/</a:t>
            </a:r>
            <a:r>
              <a:rPr lang="ar-SA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 كيف يتم النقل من المتصفح إلى السيرفر؟</a:t>
            </a: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جـ</a:t>
            </a:r>
            <a:r>
              <a:rPr lang="en-US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/</a:t>
            </a: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يتم ذلك عن طريق برتوكول النقل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HTTP = </a:t>
            </a:r>
            <a:r>
              <a:rPr lang="en-US" sz="4000" b="1" dirty="0" err="1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HyperText</a:t>
            </a:r>
            <a:r>
              <a:rPr lang="en-US" sz="40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</a:t>
            </a:r>
            <a:r>
              <a:rPr lang="en-US" sz="4000" b="1" dirty="0" err="1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Transfar</a:t>
            </a:r>
            <a:r>
              <a:rPr lang="en-US" sz="4000" b="1" dirty="0">
                <a:solidFill>
                  <a:schemeClr val="accent2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Protocol</a:t>
            </a:r>
            <a:endParaRPr lang="ar-SA" sz="40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ctr">
              <a:lnSpc>
                <a:spcPct val="150000"/>
              </a:lnSpc>
            </a:pPr>
            <a:r>
              <a:rPr lang="ar-SA" sz="2400" b="1" dirty="0">
                <a:solidFill>
                  <a:srgbClr val="3C687C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هو بروتوكول نقل – يُستخدم في إرسال واستقبال البيانات بين العميل والخادم</a:t>
            </a:r>
          </a:p>
          <a:p>
            <a:pPr algn="ctr">
              <a:lnSpc>
                <a:spcPct val="150000"/>
              </a:lnSpc>
            </a:pPr>
            <a:endParaRPr lang="ar-SA" sz="4000" b="1" dirty="0">
              <a:solidFill>
                <a:schemeClr val="accent2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708440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3013501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 err="1"/>
              <a:t>HyperText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2304272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EE9DDD03-F32B-475C-B101-4F159FD2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ECE8C7EA-53A1-4276-9F8A-C8B4DABA475B}"/>
              </a:ext>
            </a:extLst>
          </p:cNvPr>
          <p:cNvSpPr txBox="1"/>
          <p:nvPr/>
        </p:nvSpPr>
        <p:spPr>
          <a:xfrm>
            <a:off x="5084335" y="5949741"/>
            <a:ext cx="202332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 err="1">
                <a:solidFill>
                  <a:srgbClr val="00B0F0"/>
                </a:solidFill>
              </a:rPr>
              <a:t>HyperText</a:t>
            </a:r>
            <a:endParaRPr lang="ar-SA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622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2660431" y="3027571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HTTP vs HTTPS</a:t>
            </a:r>
            <a:endParaRPr lang="ar-SA" sz="4800" b="1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51C1F75D-C3CA-45AE-9635-DD3813C14A1A}"/>
              </a:ext>
            </a:extLst>
          </p:cNvPr>
          <p:cNvSpPr txBox="1"/>
          <p:nvPr/>
        </p:nvSpPr>
        <p:spPr>
          <a:xfrm>
            <a:off x="780086" y="5801251"/>
            <a:ext cx="376068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web 1.0</a:t>
            </a:r>
            <a:endParaRPr lang="ar-SA" sz="3200" dirty="0">
              <a:solidFill>
                <a:srgbClr val="002060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6C3D0912-74A8-4D44-97B8-5C094DA8F7CC}"/>
              </a:ext>
            </a:extLst>
          </p:cNvPr>
          <p:cNvSpPr txBox="1"/>
          <p:nvPr/>
        </p:nvSpPr>
        <p:spPr>
          <a:xfrm>
            <a:off x="7800646" y="5801250"/>
            <a:ext cx="376068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web 2.0</a:t>
            </a:r>
            <a:endParaRPr lang="ar-SA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375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1814621"/>
            <a:ext cx="4724400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URL</a:t>
            </a:r>
          </a:p>
          <a:p>
            <a:pPr algn="ctr"/>
            <a:r>
              <a:rPr lang="en-US" sz="4800" dirty="0"/>
              <a:t>Uniform Resource Locator</a:t>
            </a:r>
            <a:endParaRPr lang="ar-SA" sz="4800" b="1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CE0118C3-401F-4997-8BBA-AD02B15D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8" y="4122945"/>
            <a:ext cx="12141824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0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292634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4800" b="1" dirty="0">
                <a:latin typeface="TheSans" panose="020B0503040302020203" pitchFamily="34" charset="-78"/>
                <a:cs typeface="TheSans" panose="020B0503040302020203" pitchFamily="34" charset="-78"/>
              </a:rPr>
              <a:t>وظائف الويب</a:t>
            </a:r>
          </a:p>
        </p:txBody>
      </p:sp>
    </p:spTree>
    <p:extLst>
      <p:ext uri="{BB962C8B-B14F-4D97-AF65-F5344CB8AC3E}">
        <p14:creationId xmlns:p14="http://schemas.microsoft.com/office/powerpoint/2010/main" val="1727855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60C74629-C2B7-45C6-9575-CDE739F24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1F6EE64B-7B77-4B37-A1A1-8A676194904B}"/>
              </a:ext>
            </a:extLst>
          </p:cNvPr>
          <p:cNvSpPr txBox="1"/>
          <p:nvPr/>
        </p:nvSpPr>
        <p:spPr>
          <a:xfrm>
            <a:off x="1866556" y="5808554"/>
            <a:ext cx="8617169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ar-SA" sz="1600" dirty="0">
                <a:latin typeface="TheSans" panose="020B0503040302020203" pitchFamily="34" charset="-78"/>
                <a:cs typeface="TheSans" panose="020B0503040302020203" pitchFamily="34" charset="-78"/>
              </a:rPr>
              <a:t>يصمم الشكل والمظهر</a:t>
            </a:r>
            <a:r>
              <a:rPr lang="en-US" sz="1600" dirty="0">
                <a:effectLst/>
                <a:latin typeface="TheSans" panose="020B0503040302020203" pitchFamily="34" charset="-78"/>
                <a:cs typeface="TheSans" panose="020B0503040302020203" pitchFamily="34" charset="-78"/>
              </a:rPr>
              <a:t> </a:t>
            </a:r>
            <a:r>
              <a:rPr lang="en-US" sz="1600" dirty="0">
                <a:effectLst/>
                <a:latin typeface="TheSans" panose="020B0503040302020203" pitchFamily="34" charset="-78"/>
                <a:cs typeface="TheSans" panose="020B0503040302020203" pitchFamily="34" charset="-78"/>
                <a:sym typeface="Wingdings" panose="05000000000000000000" pitchFamily="2" charset="2"/>
              </a:rPr>
              <a:t> </a:t>
            </a:r>
            <a:r>
              <a:rPr lang="ar-SA" sz="1600" dirty="0">
                <a:effectLst/>
                <a:latin typeface="TheSans" panose="020B0503040302020203" pitchFamily="34" charset="-78"/>
                <a:cs typeface="TheSans" panose="020B0503040302020203" pitchFamily="34" charset="-78"/>
                <a:sym typeface="Wingdings" panose="05000000000000000000" pitchFamily="2" charset="2"/>
              </a:rPr>
              <a:t>يعكس الشكل برمجياً ليعمل على المتصفح </a:t>
            </a:r>
            <a:r>
              <a:rPr lang="en-US" sz="1600" dirty="0">
                <a:effectLst/>
                <a:latin typeface="TheSans" panose="020B0503040302020203" pitchFamily="34" charset="-78"/>
                <a:cs typeface="TheSans" panose="020B0503040302020203" pitchFamily="34" charset="-78"/>
                <a:sym typeface="Wingdings" panose="05000000000000000000" pitchFamily="2" charset="2"/>
              </a:rPr>
              <a:t>  </a:t>
            </a:r>
            <a:r>
              <a:rPr lang="ar-SA" sz="1600" dirty="0">
                <a:effectLst/>
                <a:latin typeface="TheSans" panose="020B0503040302020203" pitchFamily="34" charset="-78"/>
                <a:cs typeface="TheSans" panose="020B0503040302020203" pitchFamily="34" charset="-78"/>
                <a:sym typeface="Wingdings" panose="05000000000000000000" pitchFamily="2" charset="2"/>
              </a:rPr>
              <a:t>الذي يعمل خلف الكواليس</a:t>
            </a:r>
            <a:endParaRPr lang="ar-SA" sz="1600" dirty="0"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87923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D2D9B5E5-40FF-4A08-80BD-346EBD958A27}"/>
              </a:ext>
            </a:extLst>
          </p:cNvPr>
          <p:cNvSpPr txBox="1"/>
          <p:nvPr/>
        </p:nvSpPr>
        <p:spPr>
          <a:xfrm>
            <a:off x="2660431" y="1266148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UX</a:t>
            </a:r>
            <a:r>
              <a:rPr lang="en-US" sz="4800" b="1"/>
              <a:t>| UI </a:t>
            </a:r>
            <a:r>
              <a:rPr lang="en-US" sz="4800" b="1" dirty="0"/>
              <a:t>Designer</a:t>
            </a:r>
            <a:endParaRPr lang="ar-SA" sz="4800" b="1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6FA4C421-977B-4DF2-AF8F-CB77AC4BF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232" y="2301249"/>
            <a:ext cx="3024237" cy="1697146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9C7C1A8E-49F3-4AD8-A46E-9B04A2C87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195" y="3903562"/>
            <a:ext cx="1873346" cy="17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44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4009A5A1-E0F5-40A9-BD89-8F6A97CDC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96" y="976354"/>
            <a:ext cx="5420227" cy="5420227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77406487-3D87-4515-BB63-7D148AD4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170" y="2079057"/>
            <a:ext cx="5661606" cy="336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350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702F343C-BFC4-4D66-BA63-7FCAC9DE26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49" b="19135"/>
          <a:stretch/>
        </p:blipFill>
        <p:spPr>
          <a:xfrm rot="16200000">
            <a:off x="3224313" y="-457306"/>
            <a:ext cx="5743373" cy="83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537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8A093F19-816A-479A-AA2E-6A8D3F506229}"/>
              </a:ext>
            </a:extLst>
          </p:cNvPr>
          <p:cNvSpPr txBox="1"/>
          <p:nvPr/>
        </p:nvSpPr>
        <p:spPr>
          <a:xfrm>
            <a:off x="2447925" y="3353484"/>
            <a:ext cx="6572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ar-SA" b="1" dirty="0">
                <a:latin typeface="Alexandria ExtraLight" pitchFamily="2" charset="-78"/>
                <a:cs typeface="Alexandria ExtraLight" pitchFamily="2" charset="-78"/>
              </a:rPr>
              <a:t>https://www.figma.com/design/TnuVMAes5HSiCMpa3sRhDV/Untitled?node-id=0-1&amp;p=f&amp;t=I4Ureu30KNMGr7vA-0</a:t>
            </a:r>
          </a:p>
        </p:txBody>
      </p:sp>
    </p:spTree>
    <p:extLst>
      <p:ext uri="{BB962C8B-B14F-4D97-AF65-F5344CB8AC3E}">
        <p14:creationId xmlns:p14="http://schemas.microsoft.com/office/powerpoint/2010/main" val="14706422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1266148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Front-end Developer</a:t>
            </a:r>
            <a:endParaRPr lang="ar-SA" sz="4800" b="1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84B3D4F1-4B5F-4828-B06C-002183CD3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539" y="2532219"/>
            <a:ext cx="3572922" cy="255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687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1266148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Back-end Developer</a:t>
            </a:r>
            <a:endParaRPr lang="ar-SA" sz="4800" b="1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742071F0-C3D8-4BDB-ADF5-19417B4328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8" r="70851" b="7773"/>
          <a:stretch/>
        </p:blipFill>
        <p:spPr>
          <a:xfrm>
            <a:off x="4810760" y="2190257"/>
            <a:ext cx="1305560" cy="3259228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798D1FD8-E35C-4B81-86A1-11F4ECBB0AB8}"/>
              </a:ext>
            </a:extLst>
          </p:cNvPr>
          <p:cNvSpPr txBox="1"/>
          <p:nvPr/>
        </p:nvSpPr>
        <p:spPr>
          <a:xfrm>
            <a:off x="1742440" y="5684002"/>
            <a:ext cx="8707120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1400" dirty="0">
                <a:latin typeface="TheSans" panose="020B0503040302020203" pitchFamily="34" charset="-78"/>
                <a:cs typeface="TheSans" panose="020B0503040302020203" pitchFamily="34" charset="-78"/>
                <a:sym typeface="Wingdings" panose="05000000000000000000" pitchFamily="2" charset="2"/>
              </a:rPr>
              <a:t>الذي يعمل خلف الكواليس ليعمل الموقع ويستجيب لطلبات المستخدم أي من يتفاعل مع (قواعد البيانات وبرمجة الموقع والأمن...)</a:t>
            </a:r>
            <a:endParaRPr lang="ar-SA" sz="1400" dirty="0"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D15E91EC-1838-4238-AF9D-E18B25505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4" r="28281" b="7773"/>
          <a:stretch/>
        </p:blipFill>
        <p:spPr>
          <a:xfrm>
            <a:off x="6096000" y="2196946"/>
            <a:ext cx="1406964" cy="325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218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660431" y="1924369"/>
            <a:ext cx="6871138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Front-end Developer </a:t>
            </a:r>
          </a:p>
          <a:p>
            <a:pPr algn="ctr"/>
            <a:r>
              <a:rPr lang="en-US" sz="4800" b="1" dirty="0">
                <a:effectLst/>
              </a:rPr>
              <a:t>+ </a:t>
            </a:r>
          </a:p>
          <a:p>
            <a:pPr algn="ctr"/>
            <a:r>
              <a:rPr lang="en-US" sz="4800" b="1" dirty="0">
                <a:effectLst/>
              </a:rPr>
              <a:t>Back-end Developer</a:t>
            </a:r>
          </a:p>
          <a:p>
            <a:pPr algn="ctr"/>
            <a:r>
              <a:rPr lang="en-US" sz="4800" b="1" dirty="0">
                <a:effectLst/>
              </a:rPr>
              <a:t>= </a:t>
            </a:r>
          </a:p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</a:rPr>
              <a:t>Full stack Developer</a:t>
            </a:r>
            <a:endParaRPr lang="ar-SA" sz="4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511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272168BE-115E-4BFE-8F04-EF04CE919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881812" y="2598003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effectLst/>
              </a:rPr>
              <a:t>Front-end Developer</a:t>
            </a:r>
            <a:endParaRPr lang="ar-SA" sz="4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DFECA362-526B-465F-952C-5DB45B163D71}"/>
              </a:ext>
            </a:extLst>
          </p:cNvPr>
          <p:cNvSpPr txBox="1"/>
          <p:nvPr/>
        </p:nvSpPr>
        <p:spPr>
          <a:xfrm>
            <a:off x="2881812" y="3568547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strike="sngStrike" dirty="0">
                <a:solidFill>
                  <a:srgbClr val="FF0000"/>
                </a:solidFill>
                <a:effectLst/>
              </a:rPr>
              <a:t>Web Design</a:t>
            </a:r>
            <a:endParaRPr lang="ar-SA" sz="4800" b="1" strike="sngStri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5207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C1695951-EB88-4080-965A-72DB60187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9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A59B6789-FCD7-4296-B638-93BF5968A4A3}"/>
              </a:ext>
            </a:extLst>
          </p:cNvPr>
          <p:cNvSpPr txBox="1"/>
          <p:nvPr/>
        </p:nvSpPr>
        <p:spPr>
          <a:xfrm>
            <a:off x="2881812" y="1072934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effectLst/>
              </a:rPr>
              <a:t>Front-end Developer</a:t>
            </a:r>
            <a:endParaRPr lang="ar-SA" sz="4800" b="1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DE4D160F-61E0-48E8-B4C4-F7CFD61BA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539" y="2042401"/>
            <a:ext cx="3572922" cy="2552992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139E6A9A-6E35-4C17-A5C1-4303561BEA18}"/>
              </a:ext>
            </a:extLst>
          </p:cNvPr>
          <p:cNvSpPr txBox="1"/>
          <p:nvPr/>
        </p:nvSpPr>
        <p:spPr>
          <a:xfrm>
            <a:off x="2660431" y="4672179"/>
            <a:ext cx="687113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effectLst/>
              </a:rPr>
              <a:t>Web Languages</a:t>
            </a:r>
            <a:endParaRPr lang="ar-SA" sz="4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F7942508-B73F-4945-AF69-07E63DE259AB}"/>
              </a:ext>
            </a:extLst>
          </p:cNvPr>
          <p:cNvSpPr txBox="1"/>
          <p:nvPr/>
        </p:nvSpPr>
        <p:spPr>
          <a:xfrm>
            <a:off x="2008796" y="5615514"/>
            <a:ext cx="861716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4800" b="1" dirty="0">
                <a:solidFill>
                  <a:srgbClr val="FF0000"/>
                </a:solidFill>
                <a:effectLst/>
              </a:rPr>
              <a:t>Content </a:t>
            </a:r>
            <a:r>
              <a:rPr lang="en-US" sz="4800" b="1" dirty="0">
                <a:effectLst/>
                <a:sym typeface="Wingdings" panose="05000000000000000000" pitchFamily="2" charset="2"/>
              </a:rPr>
              <a:t> </a:t>
            </a:r>
            <a:r>
              <a:rPr lang="en-US" sz="4800" b="1" dirty="0">
                <a:solidFill>
                  <a:srgbClr val="FF0000"/>
                </a:solidFill>
                <a:effectLst/>
                <a:sym typeface="Wingdings" panose="05000000000000000000" pitchFamily="2" charset="2"/>
              </a:rPr>
              <a:t>Style </a:t>
            </a:r>
            <a:r>
              <a:rPr lang="en-US" sz="4800" b="1" dirty="0">
                <a:effectLst/>
                <a:sym typeface="Wingdings" panose="05000000000000000000" pitchFamily="2" charset="2"/>
              </a:rPr>
              <a:t></a:t>
            </a:r>
            <a:r>
              <a:rPr lang="en-US" sz="4800" b="1" dirty="0">
                <a:solidFill>
                  <a:srgbClr val="FF0000"/>
                </a:solidFill>
                <a:effectLst/>
                <a:sym typeface="Wingdings" panose="05000000000000000000" pitchFamily="2" charset="2"/>
              </a:rPr>
              <a:t>Interaction</a:t>
            </a:r>
            <a:endParaRPr lang="ar-SA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725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97A3BA74-3CB5-452D-8821-A0B122C3D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844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صورة 7">
            <a:extLst>
              <a:ext uri="{FF2B5EF4-FFF2-40B4-BE49-F238E27FC236}">
                <a16:creationId xmlns:a16="http://schemas.microsoft.com/office/drawing/2014/main" id="{A1FAA9B9-1AB5-4908-B075-E47999BA4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4F9D35AA-6ACF-4619-A02B-A40411BEC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470" y="1264142"/>
            <a:ext cx="5789059" cy="479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08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صورة 7">
            <a:extLst>
              <a:ext uri="{FF2B5EF4-FFF2-40B4-BE49-F238E27FC236}">
                <a16:creationId xmlns:a16="http://schemas.microsoft.com/office/drawing/2014/main" id="{F518A045-24E7-4963-AFCF-0E1B63729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BFEA3435-DDEC-442A-99E4-A650EE72A8AE}"/>
              </a:ext>
            </a:extLst>
          </p:cNvPr>
          <p:cNvSpPr txBox="1"/>
          <p:nvPr/>
        </p:nvSpPr>
        <p:spPr>
          <a:xfrm>
            <a:off x="2136140" y="2295789"/>
            <a:ext cx="7919720" cy="11060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 err="1"/>
              <a:t>HyperText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5"/>
                </a:solidFill>
              </a:rPr>
              <a:t>Markup</a:t>
            </a:r>
            <a:r>
              <a:rPr lang="en-US" sz="4800" b="1" dirty="0"/>
              <a:t> Language</a:t>
            </a:r>
            <a:endParaRPr lang="ar-SA" sz="4800" b="1" dirty="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2C86AD09-0E19-41EF-A20B-55BFD8CE24FB}"/>
              </a:ext>
            </a:extLst>
          </p:cNvPr>
          <p:cNvSpPr txBox="1"/>
          <p:nvPr/>
        </p:nvSpPr>
        <p:spPr>
          <a:xfrm>
            <a:off x="1892300" y="3545190"/>
            <a:ext cx="7919720" cy="6964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ترميز: </a:t>
            </a:r>
            <a:r>
              <a:rPr lang="ar-SA" sz="2800" dirty="0">
                <a:latin typeface="TheSans" panose="020B0503040302020203" pitchFamily="34" charset="-78"/>
                <a:cs typeface="TheSans" panose="020B0503040302020203" pitchFamily="34" charset="-78"/>
              </a:rPr>
              <a:t>(رموز – علامات – وسوم)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D13430F8-4ED4-420A-820D-F7F6565926A3}"/>
              </a:ext>
            </a:extLst>
          </p:cNvPr>
          <p:cNvSpPr txBox="1"/>
          <p:nvPr/>
        </p:nvSpPr>
        <p:spPr>
          <a:xfrm>
            <a:off x="2136140" y="4459371"/>
            <a:ext cx="7919720" cy="13518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Tags</a:t>
            </a:r>
            <a:endParaRPr lang="ar-SA" sz="6000" dirty="0">
              <a:solidFill>
                <a:schemeClr val="accent5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4801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77CDC624-722A-446D-B227-D9E72D184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F2A2A6A1-4261-4B53-8806-90D18E39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70" y="1529655"/>
            <a:ext cx="10861634" cy="464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251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7B9DDDEC-B592-4E78-B379-E2EE5DE4EA87}"/>
              </a:ext>
            </a:extLst>
          </p:cNvPr>
          <p:cNvSpPr txBox="1"/>
          <p:nvPr/>
        </p:nvSpPr>
        <p:spPr>
          <a:xfrm>
            <a:off x="1602740" y="1530141"/>
            <a:ext cx="89865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>
                <a:solidFill>
                  <a:schemeClr val="accent5"/>
                </a:solidFill>
              </a:rPr>
              <a:t>Tools</a:t>
            </a:r>
            <a:r>
              <a:rPr lang="en-US" sz="4800" b="1" dirty="0"/>
              <a:t> used to learn HTML language</a:t>
            </a:r>
            <a:endParaRPr lang="ar-SA" sz="4800" b="1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0064AE0C-B14B-498E-A6FB-359CF83F7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2433641"/>
            <a:ext cx="7901940" cy="3822043"/>
          </a:xfrm>
          <a:prstGeom prst="rect">
            <a:avLst/>
          </a:prstGeom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D89725B1-74EE-41CC-8DDC-64D778FC8A45}"/>
              </a:ext>
            </a:extLst>
          </p:cNvPr>
          <p:cNvSpPr txBox="1"/>
          <p:nvPr/>
        </p:nvSpPr>
        <p:spPr>
          <a:xfrm>
            <a:off x="2415540" y="5495013"/>
            <a:ext cx="308102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/>
              <a:t>Browser</a:t>
            </a:r>
            <a:endParaRPr lang="ar-SA" sz="4000" b="1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E0093BB2-D551-45A6-92B0-D9F3FF8CB119}"/>
              </a:ext>
            </a:extLst>
          </p:cNvPr>
          <p:cNvSpPr txBox="1"/>
          <p:nvPr/>
        </p:nvSpPr>
        <p:spPr>
          <a:xfrm>
            <a:off x="6549390" y="5463040"/>
            <a:ext cx="308102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/>
              <a:t>Editor</a:t>
            </a:r>
            <a:endParaRPr lang="ar-SA" sz="4000" b="1" dirty="0"/>
          </a:p>
        </p:txBody>
      </p:sp>
    </p:spTree>
    <p:extLst>
      <p:ext uri="{BB962C8B-B14F-4D97-AF65-F5344CB8AC3E}">
        <p14:creationId xmlns:p14="http://schemas.microsoft.com/office/powerpoint/2010/main" val="38249311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A8AD76A-94F4-4554-805D-10B1EBF63D5C}"/>
              </a:ext>
            </a:extLst>
          </p:cNvPr>
          <p:cNvSpPr txBox="1"/>
          <p:nvPr/>
        </p:nvSpPr>
        <p:spPr>
          <a:xfrm>
            <a:off x="2377440" y="1879600"/>
            <a:ext cx="8077200" cy="24006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SA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📝 </a:t>
            </a:r>
            <a:r>
              <a:rPr lang="en-US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Editor </a:t>
            </a:r>
            <a:endParaRPr lang="en-US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وظيفته: </a:t>
            </a: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يُستخدم لكتابة وتحرير كود </a:t>
            </a:r>
            <a:r>
              <a:rPr lang="en-US" dirty="0">
                <a:latin typeface="TheSans" panose="020B0503040302020203" pitchFamily="34" charset="-78"/>
                <a:cs typeface="TheSans" panose="020B0503040302020203" pitchFamily="34" charset="-78"/>
              </a:rPr>
              <a:t>HTML</a:t>
            </a:r>
            <a:endParaRPr lang="ar-SA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endParaRPr lang="ar-SA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أمثلة:</a:t>
            </a:r>
          </a:p>
        </p:txBody>
      </p:sp>
      <p:grpSp>
        <p:nvGrpSpPr>
          <p:cNvPr id="16" name="مجموعة 15">
            <a:extLst>
              <a:ext uri="{FF2B5EF4-FFF2-40B4-BE49-F238E27FC236}">
                <a16:creationId xmlns:a16="http://schemas.microsoft.com/office/drawing/2014/main" id="{A544BC40-590E-463B-89CB-68C585A753DB}"/>
              </a:ext>
            </a:extLst>
          </p:cNvPr>
          <p:cNvGrpSpPr/>
          <p:nvPr/>
        </p:nvGrpSpPr>
        <p:grpSpPr>
          <a:xfrm>
            <a:off x="1280160" y="4310737"/>
            <a:ext cx="9428480" cy="2001520"/>
            <a:chOff x="1280160" y="4310737"/>
            <a:chExt cx="9428480" cy="2001520"/>
          </a:xfrm>
        </p:grpSpPr>
        <p:sp>
          <p:nvSpPr>
            <p:cNvPr id="12" name="مستطيل 11">
              <a:extLst>
                <a:ext uri="{FF2B5EF4-FFF2-40B4-BE49-F238E27FC236}">
                  <a16:creationId xmlns:a16="http://schemas.microsoft.com/office/drawing/2014/main" id="{85455C82-4E77-4453-80D8-23753162511C}"/>
                </a:ext>
              </a:extLst>
            </p:cNvPr>
            <p:cNvSpPr/>
            <p:nvPr/>
          </p:nvSpPr>
          <p:spPr>
            <a:xfrm>
              <a:off x="1280160" y="4310737"/>
              <a:ext cx="2357120" cy="2001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3" name="مستطيل 12">
              <a:extLst>
                <a:ext uri="{FF2B5EF4-FFF2-40B4-BE49-F238E27FC236}">
                  <a16:creationId xmlns:a16="http://schemas.microsoft.com/office/drawing/2014/main" id="{A124BA93-3B1E-49FB-A84A-38415CDEF5D8}"/>
                </a:ext>
              </a:extLst>
            </p:cNvPr>
            <p:cNvSpPr/>
            <p:nvPr/>
          </p:nvSpPr>
          <p:spPr>
            <a:xfrm>
              <a:off x="3637280" y="4310737"/>
              <a:ext cx="2357120" cy="200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4" name="مستطيل 13">
              <a:extLst>
                <a:ext uri="{FF2B5EF4-FFF2-40B4-BE49-F238E27FC236}">
                  <a16:creationId xmlns:a16="http://schemas.microsoft.com/office/drawing/2014/main" id="{25F8F644-EC09-4259-A1DD-F030B43C1EFF}"/>
                </a:ext>
              </a:extLst>
            </p:cNvPr>
            <p:cNvSpPr/>
            <p:nvPr/>
          </p:nvSpPr>
          <p:spPr>
            <a:xfrm>
              <a:off x="5994400" y="4310737"/>
              <a:ext cx="2357120" cy="2001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5" name="مستطيل 14">
              <a:extLst>
                <a:ext uri="{FF2B5EF4-FFF2-40B4-BE49-F238E27FC236}">
                  <a16:creationId xmlns:a16="http://schemas.microsoft.com/office/drawing/2014/main" id="{7F53D6B1-A856-44BF-B6BC-4FAB51D3A7AC}"/>
                </a:ext>
              </a:extLst>
            </p:cNvPr>
            <p:cNvSpPr/>
            <p:nvPr/>
          </p:nvSpPr>
          <p:spPr>
            <a:xfrm>
              <a:off x="8351520" y="4310737"/>
              <a:ext cx="2357120" cy="200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pic>
        <p:nvPicPr>
          <p:cNvPr id="4" name="صورة 3">
            <a:extLst>
              <a:ext uri="{FF2B5EF4-FFF2-40B4-BE49-F238E27FC236}">
                <a16:creationId xmlns:a16="http://schemas.microsoft.com/office/drawing/2014/main" id="{BC767921-1F53-49BB-8D74-B10897B4F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958" y="4559871"/>
            <a:ext cx="1091986" cy="1091986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B49C5D41-E5DA-46C7-94C3-AB7668FDA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77" y="4504975"/>
            <a:ext cx="924444" cy="1201777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924F935A-D7CF-4E3D-80C1-1FA6D47902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922" y="4586911"/>
            <a:ext cx="1076554" cy="1076554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C3D9977B-77E8-4C77-B110-53CA3DB01D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690" y="4516287"/>
            <a:ext cx="1311534" cy="1135570"/>
          </a:xfrm>
          <a:prstGeom prst="rect">
            <a:avLst/>
          </a:prstGeom>
        </p:spPr>
      </p:pic>
      <p:sp>
        <p:nvSpPr>
          <p:cNvPr id="17" name="مربع نص 16">
            <a:extLst>
              <a:ext uri="{FF2B5EF4-FFF2-40B4-BE49-F238E27FC236}">
                <a16:creationId xmlns:a16="http://schemas.microsoft.com/office/drawing/2014/main" id="{7E11A811-03F3-40AF-B49B-418DDA804637}"/>
              </a:ext>
            </a:extLst>
          </p:cNvPr>
          <p:cNvSpPr txBox="1"/>
          <p:nvPr/>
        </p:nvSpPr>
        <p:spPr>
          <a:xfrm>
            <a:off x="1198892" y="5860351"/>
            <a:ext cx="248451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800" kern="1200" dirty="0">
                <a:solidFill>
                  <a:srgbClr val="000000"/>
                </a:solidFill>
                <a:effectLst/>
                <a:latin typeface="TheSans" panose="020B0503040302020203" pitchFamily="34" charset="-78"/>
                <a:ea typeface="+mn-ea"/>
                <a:cs typeface="TheSans" panose="020B0503040302020203" pitchFamily="34" charset="-78"/>
              </a:rPr>
              <a:t>Visual studio code</a:t>
            </a:r>
            <a:endParaRPr lang="ar-SA" sz="2400" dirty="0">
              <a:effectLst/>
            </a:endParaRP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F1F102F5-A7F1-4AE4-9C4B-8D92AEA4818A}"/>
              </a:ext>
            </a:extLst>
          </p:cNvPr>
          <p:cNvSpPr txBox="1"/>
          <p:nvPr/>
        </p:nvSpPr>
        <p:spPr>
          <a:xfrm>
            <a:off x="3637280" y="5850191"/>
            <a:ext cx="248451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dirty="0"/>
              <a:t>Sublime Text</a:t>
            </a:r>
            <a:endParaRPr lang="ar-SA" sz="2800" dirty="0">
              <a:effectLst/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8084F8CB-3AA9-450F-B9C3-FC746F5EBCC4}"/>
              </a:ext>
            </a:extLst>
          </p:cNvPr>
          <p:cNvSpPr txBox="1"/>
          <p:nvPr/>
        </p:nvSpPr>
        <p:spPr>
          <a:xfrm>
            <a:off x="5958151" y="5790525"/>
            <a:ext cx="24845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effectLst/>
              </a:rPr>
              <a:t>Notepad++</a:t>
            </a:r>
            <a:endParaRPr lang="ar-SA" sz="2400" dirty="0">
              <a:effectLst/>
            </a:endParaRP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D2A1328F-A606-4EC6-9A31-AA58C2131FDB}"/>
              </a:ext>
            </a:extLst>
          </p:cNvPr>
          <p:cNvSpPr txBox="1"/>
          <p:nvPr/>
        </p:nvSpPr>
        <p:spPr>
          <a:xfrm>
            <a:off x="8339538" y="5805983"/>
            <a:ext cx="24845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effectLst/>
              </a:rPr>
              <a:t>Notepad</a:t>
            </a:r>
            <a:endParaRPr lang="ar-SA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77753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A8AD76A-94F4-4554-805D-10B1EBF63D5C}"/>
              </a:ext>
            </a:extLst>
          </p:cNvPr>
          <p:cNvSpPr txBox="1"/>
          <p:nvPr/>
        </p:nvSpPr>
        <p:spPr>
          <a:xfrm>
            <a:off x="1778000" y="1879600"/>
            <a:ext cx="8676640" cy="24006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SA" sz="3600" dirty="0"/>
              <a:t>🌐</a:t>
            </a:r>
            <a:r>
              <a:rPr lang="ar-SA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 </a:t>
            </a:r>
            <a:r>
              <a:rPr lang="en-US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Browser </a:t>
            </a:r>
            <a:endParaRPr lang="en-US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وظيفته: </a:t>
            </a: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يُستخدم يعرض لك النتيجة النهائية لصفحة </a:t>
            </a:r>
            <a:r>
              <a:rPr lang="en-US" dirty="0">
                <a:latin typeface="TheSans" panose="020B0503040302020203" pitchFamily="34" charset="-78"/>
                <a:cs typeface="TheSans" panose="020B0503040302020203" pitchFamily="34" charset="-78"/>
              </a:rPr>
              <a:t>HTML </a:t>
            </a: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 كما سيراها المستخدم.</a:t>
            </a:r>
          </a:p>
          <a:p>
            <a:pPr algn="r">
              <a:lnSpc>
                <a:spcPct val="150000"/>
              </a:lnSpc>
            </a:pPr>
            <a:endParaRPr lang="ar-SA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أمثلة:</a:t>
            </a:r>
          </a:p>
        </p:txBody>
      </p:sp>
      <p:grpSp>
        <p:nvGrpSpPr>
          <p:cNvPr id="16" name="مجموعة 15">
            <a:extLst>
              <a:ext uri="{FF2B5EF4-FFF2-40B4-BE49-F238E27FC236}">
                <a16:creationId xmlns:a16="http://schemas.microsoft.com/office/drawing/2014/main" id="{A544BC40-590E-463B-89CB-68C585A753DB}"/>
              </a:ext>
            </a:extLst>
          </p:cNvPr>
          <p:cNvGrpSpPr/>
          <p:nvPr/>
        </p:nvGrpSpPr>
        <p:grpSpPr>
          <a:xfrm>
            <a:off x="1280160" y="4310737"/>
            <a:ext cx="9428480" cy="2001520"/>
            <a:chOff x="1280160" y="4310737"/>
            <a:chExt cx="9428480" cy="2001520"/>
          </a:xfrm>
        </p:grpSpPr>
        <p:sp>
          <p:nvSpPr>
            <p:cNvPr id="12" name="مستطيل 11">
              <a:extLst>
                <a:ext uri="{FF2B5EF4-FFF2-40B4-BE49-F238E27FC236}">
                  <a16:creationId xmlns:a16="http://schemas.microsoft.com/office/drawing/2014/main" id="{85455C82-4E77-4453-80D8-23753162511C}"/>
                </a:ext>
              </a:extLst>
            </p:cNvPr>
            <p:cNvSpPr/>
            <p:nvPr/>
          </p:nvSpPr>
          <p:spPr>
            <a:xfrm>
              <a:off x="1280160" y="4310737"/>
              <a:ext cx="2357120" cy="2001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3" name="مستطيل 12">
              <a:extLst>
                <a:ext uri="{FF2B5EF4-FFF2-40B4-BE49-F238E27FC236}">
                  <a16:creationId xmlns:a16="http://schemas.microsoft.com/office/drawing/2014/main" id="{A124BA93-3B1E-49FB-A84A-38415CDEF5D8}"/>
                </a:ext>
              </a:extLst>
            </p:cNvPr>
            <p:cNvSpPr/>
            <p:nvPr/>
          </p:nvSpPr>
          <p:spPr>
            <a:xfrm>
              <a:off x="3637280" y="4310737"/>
              <a:ext cx="2357120" cy="200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4" name="مستطيل 13">
              <a:extLst>
                <a:ext uri="{FF2B5EF4-FFF2-40B4-BE49-F238E27FC236}">
                  <a16:creationId xmlns:a16="http://schemas.microsoft.com/office/drawing/2014/main" id="{25F8F644-EC09-4259-A1DD-F030B43C1EFF}"/>
                </a:ext>
              </a:extLst>
            </p:cNvPr>
            <p:cNvSpPr/>
            <p:nvPr/>
          </p:nvSpPr>
          <p:spPr>
            <a:xfrm>
              <a:off x="5994400" y="4310737"/>
              <a:ext cx="2357120" cy="2001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5" name="مستطيل 14">
              <a:extLst>
                <a:ext uri="{FF2B5EF4-FFF2-40B4-BE49-F238E27FC236}">
                  <a16:creationId xmlns:a16="http://schemas.microsoft.com/office/drawing/2014/main" id="{7F53D6B1-A856-44BF-B6BC-4FAB51D3A7AC}"/>
                </a:ext>
              </a:extLst>
            </p:cNvPr>
            <p:cNvSpPr/>
            <p:nvPr/>
          </p:nvSpPr>
          <p:spPr>
            <a:xfrm>
              <a:off x="8351520" y="4310737"/>
              <a:ext cx="2357120" cy="200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7E11A811-03F3-40AF-B49B-418DDA804637}"/>
              </a:ext>
            </a:extLst>
          </p:cNvPr>
          <p:cNvSpPr txBox="1"/>
          <p:nvPr/>
        </p:nvSpPr>
        <p:spPr>
          <a:xfrm>
            <a:off x="5883388" y="5864055"/>
            <a:ext cx="248451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800" kern="1200" dirty="0">
                <a:solidFill>
                  <a:srgbClr val="000000"/>
                </a:solidFill>
                <a:effectLst/>
                <a:latin typeface="TheSans" panose="020B0503040302020203" pitchFamily="34" charset="-78"/>
                <a:ea typeface="+mn-ea"/>
                <a:cs typeface="TheSans" panose="020B0503040302020203" pitchFamily="34" charset="-78"/>
              </a:rPr>
              <a:t>chrome</a:t>
            </a:r>
            <a:endParaRPr lang="ar-SA" sz="2400" dirty="0">
              <a:effectLst/>
            </a:endParaRP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F1F102F5-A7F1-4AE4-9C4B-8D92AEA4818A}"/>
              </a:ext>
            </a:extLst>
          </p:cNvPr>
          <p:cNvSpPr txBox="1"/>
          <p:nvPr/>
        </p:nvSpPr>
        <p:spPr>
          <a:xfrm>
            <a:off x="1216462" y="5821302"/>
            <a:ext cx="248451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dirty="0"/>
              <a:t>Microsoft Edge</a:t>
            </a:r>
            <a:endParaRPr lang="ar-SA" sz="2800" dirty="0">
              <a:effectLst/>
            </a:endParaRP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8084F8CB-3AA9-450F-B9C3-FC746F5EBCC4}"/>
              </a:ext>
            </a:extLst>
          </p:cNvPr>
          <p:cNvSpPr txBox="1"/>
          <p:nvPr/>
        </p:nvSpPr>
        <p:spPr>
          <a:xfrm>
            <a:off x="3509883" y="5759945"/>
            <a:ext cx="24845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 err="1">
                <a:effectLst/>
              </a:rPr>
              <a:t>FireFox</a:t>
            </a:r>
            <a:endParaRPr lang="ar-SA" sz="2400" dirty="0">
              <a:effectLst/>
            </a:endParaRP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D2A1328F-A606-4EC6-9A31-AA58C2131FDB}"/>
              </a:ext>
            </a:extLst>
          </p:cNvPr>
          <p:cNvSpPr txBox="1"/>
          <p:nvPr/>
        </p:nvSpPr>
        <p:spPr>
          <a:xfrm>
            <a:off x="8339538" y="5805983"/>
            <a:ext cx="248451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effectLst/>
              </a:rPr>
              <a:t>Brave</a:t>
            </a:r>
            <a:endParaRPr lang="ar-SA" sz="2400" dirty="0">
              <a:effectLst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9FE0AB12-ABE5-4EDD-ACD7-B4FBCEDCB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550" y="4280256"/>
            <a:ext cx="1416415" cy="1416415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9C84DB5B-9939-49EA-BE07-8D9019A65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20" y="4312640"/>
            <a:ext cx="1372349" cy="1454186"/>
          </a:xfrm>
          <a:prstGeom prst="rect">
            <a:avLst/>
          </a:prstGeom>
        </p:spPr>
      </p:pic>
      <p:pic>
        <p:nvPicPr>
          <p:cNvPr id="22" name="صورة 21">
            <a:extLst>
              <a:ext uri="{FF2B5EF4-FFF2-40B4-BE49-F238E27FC236}">
                <a16:creationId xmlns:a16="http://schemas.microsoft.com/office/drawing/2014/main" id="{C577F846-4923-49A9-8A61-B6D10AE42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40" y="4280257"/>
            <a:ext cx="1416415" cy="1416415"/>
          </a:xfrm>
          <a:prstGeom prst="rect">
            <a:avLst/>
          </a:prstGeom>
        </p:spPr>
      </p:pic>
      <p:pic>
        <p:nvPicPr>
          <p:cNvPr id="24" name="صورة 23">
            <a:extLst>
              <a:ext uri="{FF2B5EF4-FFF2-40B4-BE49-F238E27FC236}">
                <a16:creationId xmlns:a16="http://schemas.microsoft.com/office/drawing/2014/main" id="{E66A6894-AE0F-46E0-B085-4908B2F75B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36" y="4365383"/>
            <a:ext cx="1410120" cy="141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167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A8AD76A-94F4-4554-805D-10B1EBF63D5C}"/>
              </a:ext>
            </a:extLst>
          </p:cNvPr>
          <p:cNvSpPr txBox="1"/>
          <p:nvPr/>
        </p:nvSpPr>
        <p:spPr>
          <a:xfrm>
            <a:off x="1625600" y="1876652"/>
            <a:ext cx="8737600" cy="26891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SA" sz="3600" dirty="0"/>
              <a:t>🌐</a:t>
            </a:r>
            <a:r>
              <a:rPr lang="ar-SA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 </a:t>
            </a:r>
            <a:r>
              <a:rPr lang="en-US" sz="3600" b="1" dirty="0">
                <a:latin typeface="TheSans" panose="020B0503040302020203" pitchFamily="34" charset="-78"/>
                <a:cs typeface="TheSans" panose="020B0503040302020203" pitchFamily="34" charset="-78"/>
              </a:rPr>
              <a:t>Browser </a:t>
            </a:r>
            <a:endParaRPr lang="en-US" sz="3600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r">
              <a:lnSpc>
                <a:spcPct val="150000"/>
              </a:lnSpc>
            </a:pPr>
            <a:endParaRPr lang="ar-SA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مميزاته: </a:t>
            </a:r>
          </a:p>
          <a:p>
            <a:pPr algn="r">
              <a:lnSpc>
                <a:spcPct val="150000"/>
              </a:lnSpc>
            </a:pP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1- يقرأ كود </a:t>
            </a:r>
            <a:r>
              <a:rPr lang="en-US" dirty="0">
                <a:latin typeface="TheSans" panose="020B0503040302020203" pitchFamily="34" charset="-78"/>
                <a:cs typeface="TheSans" panose="020B0503040302020203" pitchFamily="34" charset="-78"/>
              </a:rPr>
              <a:t>HTML </a:t>
            </a: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 ويحوّله لصفحة مرئية</a:t>
            </a:r>
          </a:p>
          <a:p>
            <a:pPr algn="r">
              <a:lnSpc>
                <a:spcPct val="150000"/>
              </a:lnSpc>
            </a:pP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2-  يحتوي على أدوات المطور </a:t>
            </a:r>
            <a:r>
              <a:rPr lang="en-US" dirty="0">
                <a:latin typeface="TheSans" panose="020B0503040302020203" pitchFamily="34" charset="-78"/>
                <a:cs typeface="TheSans" panose="020B0503040302020203" pitchFamily="34" charset="-78"/>
              </a:rPr>
              <a:t>( Developer Tools ) </a:t>
            </a:r>
            <a:r>
              <a:rPr lang="ar-SA" dirty="0">
                <a:latin typeface="TheSans" panose="020B0503040302020203" pitchFamily="34" charset="-78"/>
                <a:cs typeface="TheSans" panose="020B0503040302020203" pitchFamily="34" charset="-78"/>
              </a:rPr>
              <a:t> لرؤية الكود، واختباره، وتتبع الأخطاء</a:t>
            </a:r>
          </a:p>
        </p:txBody>
      </p:sp>
    </p:spTree>
    <p:extLst>
      <p:ext uri="{BB962C8B-B14F-4D97-AF65-F5344CB8AC3E}">
        <p14:creationId xmlns:p14="http://schemas.microsoft.com/office/powerpoint/2010/main" val="15596262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0072790-4F5F-49AF-B5E6-A611489F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4B669E1-71E6-4316-B42A-090E8A4F8F83}"/>
              </a:ext>
            </a:extLst>
          </p:cNvPr>
          <p:cNvSpPr txBox="1"/>
          <p:nvPr/>
        </p:nvSpPr>
        <p:spPr>
          <a:xfrm>
            <a:off x="1569720" y="1393681"/>
            <a:ext cx="90525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أول صفحة ويب في العالم مصممة فقط بلغة </a:t>
            </a:r>
            <a:r>
              <a:rPr lang="en-US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HTML</a:t>
            </a:r>
            <a:endParaRPr lang="ar-SA" sz="2800" b="1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ctr"/>
            <a:r>
              <a:rPr lang="en-US" sz="3600" b="1" dirty="0">
                <a:solidFill>
                  <a:schemeClr val="accent1"/>
                </a:solidFill>
                <a:effectLst/>
              </a:rPr>
              <a:t>http://info.cern.ch/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51BB537E-316E-4229-860F-4DB923E26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80" y="2900520"/>
            <a:ext cx="7101840" cy="3587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68570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صورة 7">
            <a:extLst>
              <a:ext uri="{FF2B5EF4-FFF2-40B4-BE49-F238E27FC236}">
                <a16:creationId xmlns:a16="http://schemas.microsoft.com/office/drawing/2014/main" id="{F518A045-24E7-4963-AFCF-0E1B63729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BFEA3435-DDEC-442A-99E4-A650EE72A8AE}"/>
              </a:ext>
            </a:extLst>
          </p:cNvPr>
          <p:cNvSpPr txBox="1"/>
          <p:nvPr/>
        </p:nvSpPr>
        <p:spPr>
          <a:xfrm>
            <a:off x="2136140" y="3088269"/>
            <a:ext cx="791972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i="0" dirty="0">
                <a:solidFill>
                  <a:schemeClr val="accent1"/>
                </a:solidFill>
                <a:effectLst/>
                <a:latin typeface="-apple-system"/>
              </a:rPr>
              <a:t>Download</a:t>
            </a:r>
            <a:r>
              <a:rPr lang="en-US" sz="4800" b="1" i="0" dirty="0">
                <a:solidFill>
                  <a:srgbClr val="242424"/>
                </a:solidFill>
                <a:effectLst/>
                <a:latin typeface="-apple-system"/>
              </a:rPr>
              <a:t> Visual Studio Code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C1F727D7-4CBC-406F-8167-CD60513CEB7F}"/>
              </a:ext>
            </a:extLst>
          </p:cNvPr>
          <p:cNvSpPr txBox="1"/>
          <p:nvPr/>
        </p:nvSpPr>
        <p:spPr>
          <a:xfrm>
            <a:off x="2136140" y="3919266"/>
            <a:ext cx="791972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hlinkClick r:id="rId3"/>
              </a:rPr>
              <a:t>Download Visual Studio Code - Mac, Linux, Windows</a:t>
            </a:r>
            <a:endParaRPr lang="en-US" sz="3200" b="1" i="0" dirty="0">
              <a:solidFill>
                <a:srgbClr val="242424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545628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0B31C939-0FC9-49BB-B1F8-B87DC2AAD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" y="1190141"/>
            <a:ext cx="10012680" cy="50741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64624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24E5E399-AB63-4C45-8606-69EC87929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673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2F43BEDA-01B7-46B1-934F-B5E3CE74E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20055EEB-BBB9-4EC3-89AC-6BEFED3759DB}"/>
              </a:ext>
            </a:extLst>
          </p:cNvPr>
          <p:cNvSpPr txBox="1"/>
          <p:nvPr/>
        </p:nvSpPr>
        <p:spPr>
          <a:xfrm>
            <a:off x="3733800" y="3138630"/>
            <a:ext cx="4724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HTML Syntax</a:t>
            </a:r>
            <a:endParaRPr lang="ar-SA" sz="4800" b="1" dirty="0"/>
          </a:p>
        </p:txBody>
      </p:sp>
    </p:spTree>
    <p:extLst>
      <p:ext uri="{BB962C8B-B14F-4D97-AF65-F5344CB8AC3E}">
        <p14:creationId xmlns:p14="http://schemas.microsoft.com/office/powerpoint/2010/main" val="34687668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BCE51AAD-14D0-42DF-B80F-DF4398FE87DC}"/>
              </a:ext>
            </a:extLst>
          </p:cNvPr>
          <p:cNvSpPr txBox="1"/>
          <p:nvPr/>
        </p:nvSpPr>
        <p:spPr>
          <a:xfrm>
            <a:off x="3215640" y="1096470"/>
            <a:ext cx="575564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/>
              <a:t>HTML Structure -&gt; Tree</a:t>
            </a:r>
            <a:endParaRPr lang="ar-SA" sz="4000" b="1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D697AF57-A4F0-46EF-A172-3F9626D61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534" y="1996134"/>
            <a:ext cx="6272106" cy="467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6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E376514E-14C9-4FEE-82EC-224AE2886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77" y="1423855"/>
            <a:ext cx="9112383" cy="486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707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69473BF9-1748-44DD-80DB-376992757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66" y="884620"/>
            <a:ext cx="9406068" cy="581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344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208E0031-4719-41DF-AA06-CC393F3A9841}"/>
              </a:ext>
            </a:extLst>
          </p:cNvPr>
          <p:cNvSpPr txBox="1"/>
          <p:nvPr/>
        </p:nvSpPr>
        <p:spPr>
          <a:xfrm>
            <a:off x="1342851" y="1283534"/>
            <a:ext cx="9936480" cy="442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ar-SA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تحتوي شجرة الـ </a:t>
            </a:r>
            <a:r>
              <a:rPr lang="en-US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HTML</a:t>
            </a:r>
            <a:r>
              <a:rPr lang="ar-SA" sz="2800" b="1" dirty="0">
                <a:latin typeface="TheSans" panose="020B0503040302020203" pitchFamily="34" charset="-78"/>
                <a:cs typeface="TheSans" panose="020B0503040302020203" pitchFamily="34" charset="-78"/>
              </a:rPr>
              <a:t> على 3 أجزاء:</a:t>
            </a:r>
          </a:p>
          <a:p>
            <a:pPr algn="l">
              <a:lnSpc>
                <a:spcPct val="200000"/>
              </a:lnSpc>
            </a:pPr>
            <a:r>
              <a:rPr lang="en-US" sz="2400" b="1" dirty="0">
                <a:latin typeface="TheSans" panose="020B0503040302020203" pitchFamily="34" charset="-78"/>
                <a:cs typeface="TheSans" panose="020B0503040302020203" pitchFamily="34" charset="-78"/>
              </a:rPr>
              <a:t>1- Document Type  &lt;!DOCTYPE html&gt;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	Version of HTML that you will be using</a:t>
            </a:r>
          </a:p>
          <a:p>
            <a:pPr algn="l">
              <a:lnSpc>
                <a:spcPct val="150000"/>
              </a:lnSpc>
            </a:pPr>
            <a:r>
              <a:rPr lang="en-US" sz="2400" b="1" dirty="0">
                <a:latin typeface="TheSans" panose="020B0503040302020203" pitchFamily="34" charset="-78"/>
                <a:cs typeface="TheSans" panose="020B0503040302020203" pitchFamily="34" charset="-78"/>
              </a:rPr>
              <a:t>2- Head &lt;head&gt;</a:t>
            </a:r>
            <a:endParaRPr lang="ar-AE" sz="2400" b="1" dirty="0">
              <a:latin typeface="TheSans" panose="020B0503040302020203" pitchFamily="34" charset="-78"/>
              <a:cs typeface="TheSans" panose="020B0503040302020203" pitchFamily="34" charset="-78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Metadata – additional information – </a:t>
            </a:r>
            <a:r>
              <a:rPr lang="en-US" dirty="0" err="1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exta</a:t>
            </a: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information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(Meta data </a:t>
            </a:r>
            <a:r>
              <a:rPr lang="en-US" dirty="0" err="1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e.g</a:t>
            </a: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: language | title) and (Supporting file </a:t>
            </a:r>
            <a:r>
              <a:rPr lang="en-US" dirty="0" err="1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e.g</a:t>
            </a: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: </a:t>
            </a:r>
            <a:r>
              <a:rPr lang="en-US" dirty="0" err="1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css</a:t>
            </a: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 , </a:t>
            </a:r>
            <a:r>
              <a:rPr lang="en-US" dirty="0" err="1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js</a:t>
            </a: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2400" b="1" dirty="0">
                <a:latin typeface="TheSans" panose="020B0503040302020203" pitchFamily="34" charset="-78"/>
                <a:cs typeface="TheSans" panose="020B0503040302020203" pitchFamily="34" charset="-78"/>
              </a:rPr>
              <a:t>3- Body &lt;body&gt;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Displayable content</a:t>
            </a:r>
            <a:endParaRPr lang="ar-SA" dirty="0">
              <a:solidFill>
                <a:schemeClr val="accent1"/>
              </a:solidFill>
              <a:latin typeface="TheSans" panose="020B0503040302020203" pitchFamily="34" charset="-78"/>
              <a:cs typeface="TheSans" panose="020B0503040302020203" pitchFamily="34" charset="-78"/>
            </a:endParaRPr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F0FB6833-07BD-4099-B9E4-BF069DBD9E12}"/>
              </a:ext>
            </a:extLst>
          </p:cNvPr>
          <p:cNvSpPr txBox="1"/>
          <p:nvPr/>
        </p:nvSpPr>
        <p:spPr>
          <a:xfrm>
            <a:off x="9174480" y="5515119"/>
            <a:ext cx="255016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>
                <a:solidFill>
                  <a:schemeClr val="accent4"/>
                </a:solidFill>
              </a:rPr>
              <a:t>DOM tree</a:t>
            </a:r>
          </a:p>
        </p:txBody>
      </p:sp>
    </p:spTree>
    <p:extLst>
      <p:ext uri="{BB962C8B-B14F-4D97-AF65-F5344CB8AC3E}">
        <p14:creationId xmlns:p14="http://schemas.microsoft.com/office/powerpoint/2010/main" val="391546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208E0031-4719-41DF-AA06-CC393F3A9841}"/>
              </a:ext>
            </a:extLst>
          </p:cNvPr>
          <p:cNvSpPr txBox="1"/>
          <p:nvPr/>
        </p:nvSpPr>
        <p:spPr>
          <a:xfrm>
            <a:off x="-1961020" y="2259449"/>
            <a:ext cx="9936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b="1" dirty="0">
                <a:latin typeface="TheSans" panose="020B0503040302020203" pitchFamily="34" charset="-78"/>
                <a:cs typeface="TheSans" panose="020B0503040302020203" pitchFamily="34" charset="-78"/>
              </a:rPr>
              <a:t>&lt;!DOCTYPE html&gt;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5FFBA76-0C26-48B6-BA18-7F942F9CD799}"/>
              </a:ext>
            </a:extLst>
          </p:cNvPr>
          <p:cNvSpPr txBox="1"/>
          <p:nvPr/>
        </p:nvSpPr>
        <p:spPr>
          <a:xfrm>
            <a:off x="1032005" y="5023428"/>
            <a:ext cx="103637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ar-SA" sz="3200" b="1" dirty="0">
                <a:latin typeface="TheSans" panose="020B0503040302020203" pitchFamily="34" charset="-78"/>
                <a:cs typeface="TheSans" panose="020B0503040302020203" pitchFamily="34" charset="-78"/>
              </a:rPr>
              <a:t>&lt;!DOCTYPE HTML PUBLIC "-//W3C//DTD HTML 4.01//EN"</a:t>
            </a:r>
          </a:p>
          <a:p>
            <a:pPr algn="l" rtl="0"/>
            <a:r>
              <a:rPr lang="ar-SA" sz="3200" b="1" dirty="0">
                <a:latin typeface="TheSans" panose="020B0503040302020203" pitchFamily="34" charset="-78"/>
                <a:cs typeface="TheSans" panose="020B0503040302020203" pitchFamily="34" charset="-78"/>
              </a:rPr>
              <a:t>  "http://www.w3.org/TR/html4/strict.dtd"&gt;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AEDC56AF-AB1E-405E-8585-A533824CF166}"/>
              </a:ext>
            </a:extLst>
          </p:cNvPr>
          <p:cNvSpPr txBox="1"/>
          <p:nvPr/>
        </p:nvSpPr>
        <p:spPr>
          <a:xfrm>
            <a:off x="288098" y="1422375"/>
            <a:ext cx="31864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HTML5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FBA79E55-52E0-489A-A365-C60F436D8B2A}"/>
              </a:ext>
            </a:extLst>
          </p:cNvPr>
          <p:cNvSpPr txBox="1"/>
          <p:nvPr/>
        </p:nvSpPr>
        <p:spPr>
          <a:xfrm>
            <a:off x="383349" y="3681298"/>
            <a:ext cx="31864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b="1" dirty="0">
                <a:solidFill>
                  <a:schemeClr val="accent5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HTML4</a:t>
            </a:r>
          </a:p>
        </p:txBody>
      </p:sp>
    </p:spTree>
    <p:extLst>
      <p:ext uri="{BB962C8B-B14F-4D97-AF65-F5344CB8AC3E}">
        <p14:creationId xmlns:p14="http://schemas.microsoft.com/office/powerpoint/2010/main" val="2476058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F658730E-093A-40BC-83F6-8B1CDDA38DE4}"/>
              </a:ext>
            </a:extLst>
          </p:cNvPr>
          <p:cNvSpPr txBox="1"/>
          <p:nvPr/>
        </p:nvSpPr>
        <p:spPr>
          <a:xfrm>
            <a:off x="3218180" y="3179270"/>
            <a:ext cx="575564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00" b="1" dirty="0">
                <a:solidFill>
                  <a:schemeClr val="accent1"/>
                </a:solidFill>
              </a:rPr>
              <a:t>tags</a:t>
            </a:r>
            <a:endParaRPr lang="ar-SA" sz="6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691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مجموعة 6">
            <a:extLst>
              <a:ext uri="{FF2B5EF4-FFF2-40B4-BE49-F238E27FC236}">
                <a16:creationId xmlns:a16="http://schemas.microsoft.com/office/drawing/2014/main" id="{69487712-7FA0-4B74-A84F-02C17C3726C5}"/>
              </a:ext>
            </a:extLst>
          </p:cNvPr>
          <p:cNvGrpSpPr/>
          <p:nvPr/>
        </p:nvGrpSpPr>
        <p:grpSpPr>
          <a:xfrm>
            <a:off x="3688080" y="2563109"/>
            <a:ext cx="4561840" cy="733044"/>
            <a:chOff x="3637280" y="2695956"/>
            <a:chExt cx="4561840" cy="733044"/>
          </a:xfrm>
        </p:grpSpPr>
        <p:pic>
          <p:nvPicPr>
            <p:cNvPr id="4" name="صورة 3">
              <a:extLst>
                <a:ext uri="{FF2B5EF4-FFF2-40B4-BE49-F238E27FC236}">
                  <a16:creationId xmlns:a16="http://schemas.microsoft.com/office/drawing/2014/main" id="{CB9B967F-94AE-4F45-8B73-59035CFEF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7280" y="2695956"/>
              <a:ext cx="4561840" cy="733044"/>
            </a:xfrm>
            <a:prstGeom prst="rect">
              <a:avLst/>
            </a:prstGeom>
          </p:spPr>
        </p:pic>
        <p:sp>
          <p:nvSpPr>
            <p:cNvPr id="6" name="مربع نص 5">
              <a:extLst>
                <a:ext uri="{FF2B5EF4-FFF2-40B4-BE49-F238E27FC236}">
                  <a16:creationId xmlns:a16="http://schemas.microsoft.com/office/drawing/2014/main" id="{E02A34F7-7385-476A-AB1F-722006B4FE84}"/>
                </a:ext>
              </a:extLst>
            </p:cNvPr>
            <p:cNvSpPr txBox="1"/>
            <p:nvPr/>
          </p:nvSpPr>
          <p:spPr>
            <a:xfrm>
              <a:off x="3770630" y="2800868"/>
              <a:ext cx="4295140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2800" b="1" dirty="0">
                  <a:solidFill>
                    <a:schemeClr val="bg1"/>
                  </a:solidFill>
                </a:rPr>
                <a:t>Opening and Closing Tags</a:t>
              </a:r>
              <a:endParaRPr lang="ar-SA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F75140E3-A25F-461B-8AED-CE5D00C30DF9}"/>
              </a:ext>
            </a:extLst>
          </p:cNvPr>
          <p:cNvSpPr txBox="1"/>
          <p:nvPr/>
        </p:nvSpPr>
        <p:spPr>
          <a:xfrm>
            <a:off x="4715510" y="3710849"/>
            <a:ext cx="25069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SA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… 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… 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 rtl="0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… 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6406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099265EC-6F67-4BAF-BCEB-BE135C6A3BE6}"/>
              </a:ext>
            </a:extLst>
          </p:cNvPr>
          <p:cNvSpPr txBox="1"/>
          <p:nvPr/>
        </p:nvSpPr>
        <p:spPr>
          <a:xfrm>
            <a:off x="1143000" y="1414979"/>
            <a:ext cx="6045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 rtl="0"/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             </a:t>
            </a:r>
          </a:p>
          <a:p>
            <a:pPr algn="l" rtl="0"/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747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F9CBE679-87DD-4A4F-89B0-A5182F8C0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960" y="1965325"/>
            <a:ext cx="4987040" cy="3103593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1B251207-4FEE-48D7-9063-50D2170E6375}"/>
              </a:ext>
            </a:extLst>
          </p:cNvPr>
          <p:cNvSpPr txBox="1"/>
          <p:nvPr/>
        </p:nvSpPr>
        <p:spPr>
          <a:xfrm>
            <a:off x="2604135" y="1150033"/>
            <a:ext cx="17068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/>
              <a:t>Editor</a:t>
            </a:r>
            <a:endParaRPr lang="ar-SA" sz="3600" b="1" dirty="0">
              <a:solidFill>
                <a:schemeClr val="accent1"/>
              </a:solidFill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A862A517-A733-45D0-9E89-19EDA2D97788}"/>
              </a:ext>
            </a:extLst>
          </p:cNvPr>
          <p:cNvSpPr txBox="1"/>
          <p:nvPr/>
        </p:nvSpPr>
        <p:spPr>
          <a:xfrm>
            <a:off x="7680960" y="1150034"/>
            <a:ext cx="17068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/>
              <a:t>Brower</a:t>
            </a:r>
            <a:endParaRPr lang="ar-SA" sz="3600" b="1" dirty="0">
              <a:solidFill>
                <a:schemeClr val="accent1"/>
              </a:solidFill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8C3FFBB2-07F4-4496-A018-B2C3F78C8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591" y="1965325"/>
            <a:ext cx="4850994" cy="3103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51958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F326B214-1B72-45DB-BB47-8834FEB0E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76569EE8-C164-4BD5-91EC-EF2354399DB7}"/>
              </a:ext>
            </a:extLst>
          </p:cNvPr>
          <p:cNvSpPr txBox="1"/>
          <p:nvPr/>
        </p:nvSpPr>
        <p:spPr>
          <a:xfrm>
            <a:off x="2193290" y="2705725"/>
            <a:ext cx="780542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800" b="1" dirty="0" err="1">
                <a:solidFill>
                  <a:schemeClr val="accent5"/>
                </a:solidFill>
              </a:rPr>
              <a:t>The</a:t>
            </a:r>
            <a:r>
              <a:rPr lang="en-US" sz="8800" b="1" dirty="0" err="1"/>
              <a:t>End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8293646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1302</Words>
  <Application>Microsoft Office PowerPoint</Application>
  <PresentationFormat>شاشة عريضة</PresentationFormat>
  <Paragraphs>261</Paragraphs>
  <Slides>87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87</vt:i4>
      </vt:variant>
    </vt:vector>
  </HeadingPairs>
  <TitlesOfParts>
    <vt:vector size="95" baseType="lpstr">
      <vt:lpstr>Alexandria ExtraLight</vt:lpstr>
      <vt:lpstr>-apple-system</vt:lpstr>
      <vt:lpstr>Arial</vt:lpstr>
      <vt:lpstr>Calibri</vt:lpstr>
      <vt:lpstr>Calibri Light</vt:lpstr>
      <vt:lpstr>Consolas</vt:lpstr>
      <vt:lpstr>TheSans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User</dc:creator>
  <cp:lastModifiedBy>User</cp:lastModifiedBy>
  <cp:revision>48</cp:revision>
  <dcterms:created xsi:type="dcterms:W3CDTF">2025-07-02T18:04:42Z</dcterms:created>
  <dcterms:modified xsi:type="dcterms:W3CDTF">2025-11-08T17:58:37Z</dcterms:modified>
</cp:coreProperties>
</file>